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blem" id="{3de707dc-1f81-6229-5926-5b55d87486ad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Method" id="{80e09a1d-37e4-e490-c1bf-eaf78b294664}">
          <p14:sldIdLst>
            <p14:sldId id="263"/>
            <p14:sldId id="264"/>
            <p14:sldId id="265"/>
          </p14:sldIdLst>
        </p14:section>
        <p14:section name="Results" id="{829d441f-206c-2679-78ed-81af199b6a6a}">
          <p14:sldIdLst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Deep learning" id="{44a01bb0-6402-62e3-614c-6d1dacaf3f64}">
          <p14:sldIdLst>
            <p14:sldId id="273"/>
            <p14:sldId id="274"/>
            <p14:sldId id="275"/>
            <p14:sldId id="276"/>
          </p14:sldIdLst>
        </p14:section>
        <p14:section name="Conclusion" id="{af18dec5-a01d-57b0-9753-ff2708743e13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Usual method (fixed band)</c:v>
                </c:pt>
              </c:strCache>
            </c:strRef>
          </c:tx>
          <c:spPr>
            <a:solidFill>
              <a:srgbClr val="7A8B99"/>
            </a:solidFill>
            <a:effectLst/>
          </c:spPr>
          <c:invertIfNegative val="0"/>
          <c:dLbls>
            <c:numFmt formatCode="0.0#&quot;×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Set 2 B1 · outer</c:v>
                  </c:pt>
                  <c:pt idx="1">
                    <c:v>Set 3 B3 · outer</c:v>
                  </c:pt>
                  <c:pt idx="2">
                    <c:v>Set 1 B3 · inner</c:v>
                  </c:pt>
                  <c:pt idx="3">
                    <c:v>Set 1 B4 · roller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1.88</c:v>
                </c:pt>
                <c:pt idx="1">
                  <c:v>1.03</c:v>
                </c:pt>
                <c:pt idx="2">
                  <c:v>2.5</c:v>
                </c:pt>
                <c:pt idx="3">
                  <c:v>1.03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Proposed method</c:v>
                </c:pt>
              </c:strCache>
            </c:strRef>
          </c:tx>
          <c:spPr>
            <a:solidFill>
              <a:srgbClr val="E8963A"/>
            </a:solidFill>
            <a:effectLst/>
          </c:spPr>
          <c:invertIfNegative val="0"/>
          <c:dLbls>
            <c:numFmt formatCode="0.0#&quot;×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Set 2 B1 · outer</c:v>
                  </c:pt>
                  <c:pt idx="1">
                    <c:v>Set 3 B3 · outer</c:v>
                  </c:pt>
                  <c:pt idx="2">
                    <c:v>Set 1 B3 · inner</c:v>
                  </c:pt>
                  <c:pt idx="3">
                    <c:v>Set 1 B4 · roller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50.19</c:v>
                </c:pt>
                <c:pt idx="1">
                  <c:v>9.86</c:v>
                </c:pt>
                <c:pt idx="2">
                  <c:v>3.86</c:v>
                </c:pt>
                <c:pt idx="3">
                  <c:v>2.68</c:v>
                </c:pt>
              </c:numCache>
            </c:numRef>
          </c:val>
        </c:ser>
        <c:dLbls>
          <c:numFmt formatCode="0.0#&quot;×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100"/>
          <c:min val="1"/>
        </c:scaling>
        <c:delete val="0"/>
        <c:axPos val="l"/>
        <c:majorGridlines>
          <c:spPr>
            <a:ln w="6350" cap="flat">
              <a:solidFill>
                <a:srgbClr val="E3E8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7A8B99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7A8B99"/>
                    </a:solidFill>
                    <a:latin typeface="+mn-lt"/>
                  </a:rPr>
                  <a:t>Separation (log scale)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8B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E4A62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E4A62"/>
                </a:solidFill>
                <a:latin typeface="+mn-lt"/>
              </a:rPr>
              <a:t>Worst-case separation (1.0 = coin flip)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Worst separation</c:v>
                </c:pt>
              </c:strCache>
            </c:strRef>
          </c:tx>
          <c:spPr>
            <a:solidFill>
              <a:srgbClr val="E8963A"/>
            </a:solidFill>
            <a:effectLst/>
          </c:spPr>
          <c:invertIfNegative val="0"/>
          <c:dLbls>
            <c:numFmt formatCode="0.00&quot;×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96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8B9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A8B9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A8B9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Full proposed (4/4 correct)</c:v>
                  </c:pt>
                  <c:pt idx="1">
                    <c:v>No speed search (1/4)</c:v>
                  </c:pt>
                  <c:pt idx="2">
                    <c:v>Own early data as normal (3/4)</c:v>
                  </c:pt>
                  <c:pt idx="3">
                    <c:v>Usual method (4/4)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2.68</c:v>
                </c:pt>
                <c:pt idx="1">
                  <c:v>0.31</c:v>
                </c:pt>
                <c:pt idx="2">
                  <c:v>0.28</c:v>
                </c:pt>
                <c:pt idx="3">
                  <c:v>1.03</c:v>
                </c:pt>
              </c:numCache>
            </c:numRef>
          </c:val>
        </c:ser>
        <c:dLbls>
          <c:numFmt formatCode="0.00&quot;×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0"/>
        </c:scaling>
        <c:delete val="0"/>
        <c:axPos val="b"/>
        <c:majorGridlines>
          <c:spPr>
            <a:ln w="6350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8B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built a method that tells which bearing on a machine is failing, since when, and what part of it is broken, using only vibration sensors and no labelled fault examples. Tested on the NASA/IMS run-to-failure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When, where, what: detection, localization, identification. Three practical obstacles: no fault labels to learn from, the real machine speed differs from the nameplate, and on a shared shaft every sensor picks up every bearing.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time a rolling element rolls over a crack there is a tiny impact. The number of impacts per second depends on which part is cracked, because each part moves at a different speed. That is the physical key to identification.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tests, about 9,500 snapshots. Four failures are the positives, the eight surviving bearings are the negatives. Set 1 has two sensors per bearing.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Top: healthy bearing is just noise; the failing one has a spike every 4.3 ms, 230 times per second. Bottom: the envelope spectrum turns that into peaks at 230 Hz and its multiples - the outer-race rhythm. Note: 230 Hz, not the textbook 236.4 Hz.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standard fixed-band envelope approach. Each weakness has a plain analogy. The two that matter most turned out to be the speed error and the raw peak heights.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looked at the data before designing. Speed is off by 2.5%. The fault rhythm reaches every sensor. Some faults exist from the start. Loudness relative to the neighbours is what localizes.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method splits the job. Stage A uses loudness, which differs between bearings, so it can say which bearing and when. Stage B uses the rhythm, which is the same on every sensor, so it reliably says what. Stage B averages its evidence from Stage A's alarm onward. No step learns from labelled faults.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A in three steps. The key is step 2: subtracting the neighbours' growth. Without it, seven of eight healthy bearings raise alarms, because the whole machine gets louder near the end of a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steps. Step 3, the speed search, fixes the 2.5% speed error. Step 4 compares with all healthy bearings, not the bearing's own start, so a fault present from day one is still seen. The method refuses to guess when evidence is weak.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failure found and named. The two false alarms differ: set 3 B4 had a short energy bump and the method refused to name a fault. Set 2 B4 alarmed in the last 4 hours during its neighbour's breakdown and copied the neighbour's outer-race signature.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each failing bearing separates from its peers. Point out that the healthy bearings drift downward relative to the failing one, which is why the contrast is so clean.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methods get 4 of 4 verdicts, so accuracy alone hides the difference. Separation shows confidence. The usual method's verdict on set 3 B3 and set 1 B4 is a coin flip; ours is clear in every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physical evidence behind each verdict. The speed search finds the real speed, about 1,950 rpm, and the combs line up with real peaks.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separation matters. Whitening removes loudness, so only the true rhythm grows.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Removing the speed search makes the method almost blind. Using a bearing's own early data as normal loses the rolling-element fault. Both ingredients are necessary.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four failures is a tiny sample and thresholds were set on this data. The method is physics plus statistics; no model is trained.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 learning variant: compute features, then hand them to networks. Three designs. D1 and D2 use no real fault labels; D3 does. The core issue is that rare fault types have one example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autoencoder squeezes 16 features into 4 and back, trained on healthy data only. Its copy error goes through the same peer-contrast alarm rule as Stage A. Trade-off: no false alarms and earlier warnings, but one missed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faults are rare, so we create them from physics, the way pilots train for emergencies in a simulator. The network never sees a real fault or any data from the test it is scored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LORO = Leave-One-Run-Out. The supervised CNN cannot name a fault type it has never seen. The simulated-fault CNN gets outer and inner right and never calls a fault on a healthy bearing. The physics method remains the most 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one-line summary and the link to Part II: the Stage A health index is the signal the RUL model extrapolates, and Stage B's fault type can select a degradation model per 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65836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86200"/>
            <a:ext cx="658368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Part I · Fault diagnosis · NASA/IMS bearing dataset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6-1.png"/><Relationship Id="rId3" Type="http://schemas.openxmlformats.org/officeDocument/2006/relationships/image" Target="../media/image-16-2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Finding a Failing Bearing Before It Breaks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86200"/>
            <a:ext cx="6583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Part I · Fault diagnosis on the NASA/IMS bearing dataset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A two-stage, training-free method</a:t>
            </a:r>
            <a:endParaRPr lang="en-US" sz="2000" dirty="0"/>
          </a:p>
        </p:txBody>
      </p:sp>
      <p:sp>
        <p:nvSpPr>
          <p:cNvPr id="4" name="outer race"/>
          <p:cNvSpPr/>
          <p:nvPr/>
        </p:nvSpPr>
        <p:spPr>
          <a:xfrm>
            <a:off x="7589520" y="1508760"/>
            <a:ext cx="3840480" cy="3840480"/>
          </a:xfrm>
          <a:prstGeom prst="ellipse">
            <a:avLst/>
          </a:prstGeom>
          <a:solidFill>
            <a:srgbClr val="9AB3C8"/>
          </a:solidFill>
          <a:ln w="12700">
            <a:solidFill>
              <a:srgbClr val="9AB3C8"/>
            </a:solidFill>
            <a:prstDash val="solid"/>
          </a:ln>
        </p:spPr>
      </p:sp>
      <p:sp>
        <p:nvSpPr>
          <p:cNvPr id="5" name="outer race bore"/>
          <p:cNvSpPr/>
          <p:nvPr/>
        </p:nvSpPr>
        <p:spPr>
          <a:xfrm>
            <a:off x="7935163" y="1854403"/>
            <a:ext cx="3149194" cy="3149194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6" name="inner race"/>
          <p:cNvSpPr/>
          <p:nvPr/>
        </p:nvSpPr>
        <p:spPr>
          <a:xfrm>
            <a:off x="8549640" y="2468880"/>
            <a:ext cx="1920240" cy="1920240"/>
          </a:xfrm>
          <a:prstGeom prst="ellipse">
            <a:avLst/>
          </a:prstGeom>
          <a:solidFill>
            <a:srgbClr val="9AB3C8"/>
          </a:solidFill>
          <a:ln w="12700">
            <a:solidFill>
              <a:srgbClr val="9AB3C8"/>
            </a:solidFill>
            <a:prstDash val="solid"/>
          </a:ln>
        </p:spPr>
      </p:sp>
      <p:sp>
        <p:nvSpPr>
          <p:cNvPr id="7" name="shaft bore"/>
          <p:cNvSpPr/>
          <p:nvPr/>
        </p:nvSpPr>
        <p:spPr>
          <a:xfrm>
            <a:off x="8895283" y="2814523"/>
            <a:ext cx="1228954" cy="1228954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8" name="rolling element 1"/>
          <p:cNvSpPr/>
          <p:nvPr/>
        </p:nvSpPr>
        <p:spPr>
          <a:xfrm>
            <a:off x="10508285" y="3160166"/>
            <a:ext cx="537667" cy="537667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9" name="rolling element 2"/>
          <p:cNvSpPr/>
          <p:nvPr/>
        </p:nvSpPr>
        <p:spPr>
          <a:xfrm>
            <a:off x="10338491" y="3793846"/>
            <a:ext cx="537667" cy="537667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0" name="rolling element 3"/>
          <p:cNvSpPr/>
          <p:nvPr/>
        </p:nvSpPr>
        <p:spPr>
          <a:xfrm>
            <a:off x="9874606" y="4257731"/>
            <a:ext cx="537667" cy="537667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1" name="rolling element 4"/>
          <p:cNvSpPr/>
          <p:nvPr/>
        </p:nvSpPr>
        <p:spPr>
          <a:xfrm>
            <a:off x="9240926" y="4427525"/>
            <a:ext cx="537667" cy="537667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rolling element 5"/>
          <p:cNvSpPr/>
          <p:nvPr/>
        </p:nvSpPr>
        <p:spPr>
          <a:xfrm>
            <a:off x="8607247" y="4257731"/>
            <a:ext cx="537667" cy="537667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3" name="rolling element 6"/>
          <p:cNvSpPr/>
          <p:nvPr/>
        </p:nvSpPr>
        <p:spPr>
          <a:xfrm>
            <a:off x="8143362" y="3793846"/>
            <a:ext cx="537667" cy="537667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4" name="rolling element 7"/>
          <p:cNvSpPr/>
          <p:nvPr/>
        </p:nvSpPr>
        <p:spPr>
          <a:xfrm>
            <a:off x="7973568" y="3160166"/>
            <a:ext cx="537667" cy="537667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5" name="rolling element 8"/>
          <p:cNvSpPr/>
          <p:nvPr/>
        </p:nvSpPr>
        <p:spPr>
          <a:xfrm>
            <a:off x="8143362" y="2526487"/>
            <a:ext cx="537667" cy="537667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6" name="rolling element 9"/>
          <p:cNvSpPr/>
          <p:nvPr/>
        </p:nvSpPr>
        <p:spPr>
          <a:xfrm>
            <a:off x="8607247" y="2062602"/>
            <a:ext cx="537667" cy="537667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7" name="rolling element 10"/>
          <p:cNvSpPr/>
          <p:nvPr/>
        </p:nvSpPr>
        <p:spPr>
          <a:xfrm>
            <a:off x="9240926" y="1892808"/>
            <a:ext cx="537667" cy="537667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8" name="rolling element 11"/>
          <p:cNvSpPr/>
          <p:nvPr/>
        </p:nvSpPr>
        <p:spPr>
          <a:xfrm>
            <a:off x="9874606" y="2062602"/>
            <a:ext cx="537667" cy="537667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9" name="rolling element 12"/>
          <p:cNvSpPr/>
          <p:nvPr/>
        </p:nvSpPr>
        <p:spPr>
          <a:xfrm>
            <a:off x="10338491" y="2526487"/>
            <a:ext cx="537667" cy="537667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diagnosis system has to answer three questions</a:t>
            </a:r>
            <a:endParaRPr lang="en-US" sz="3000" dirty="0"/>
          </a:p>
        </p:txBody>
      </p:sp>
      <p:sp>
        <p:nvSpPr>
          <p:cNvPr id="3" name="question When?"/>
          <p:cNvSpPr/>
          <p:nvPr/>
        </p:nvSpPr>
        <p:spPr>
          <a:xfrm>
            <a:off x="548640" y="150876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etection circle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Detection icon" descr="Dete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202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737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When?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Detection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743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When did the bearing stop being healthy?</a:t>
            </a:r>
            <a:endParaRPr lang="en-US" sz="1600" dirty="0"/>
          </a:p>
        </p:txBody>
      </p:sp>
      <p:sp>
        <p:nvSpPr>
          <p:cNvPr id="9" name="question Where?"/>
          <p:cNvSpPr/>
          <p:nvPr/>
        </p:nvSpPr>
        <p:spPr>
          <a:xfrm>
            <a:off x="4343400" y="150876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Localization circle"/>
          <p:cNvSpPr/>
          <p:nvPr/>
        </p:nvSpPr>
        <p:spPr>
          <a:xfrm>
            <a:off x="4617720" y="17373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Localization icon" descr="Localiz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9202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32120" y="1737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Where?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5532120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Localization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2743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of the bearings on the shaft is failing?</a:t>
            </a:r>
            <a:endParaRPr lang="en-US" sz="1600" dirty="0"/>
          </a:p>
        </p:txBody>
      </p:sp>
      <p:sp>
        <p:nvSpPr>
          <p:cNvPr id="15" name="question What?"/>
          <p:cNvSpPr/>
          <p:nvPr/>
        </p:nvSpPr>
        <p:spPr>
          <a:xfrm>
            <a:off x="8138160" y="150876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dentification circle"/>
          <p:cNvSpPr/>
          <p:nvPr/>
        </p:nvSpPr>
        <p:spPr>
          <a:xfrm>
            <a:off x="8412480" y="17373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dentification icon" descr="Identific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9202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326880" y="1737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What?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9326880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Identification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412480" y="2743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Outer race, inner race or rolling element?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4206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Why it is hard</a:t>
            </a:r>
            <a:endParaRPr lang="en-US" sz="2000" dirty="0"/>
          </a:p>
        </p:txBody>
      </p:sp>
      <p:sp>
        <p:nvSpPr>
          <p:cNvPr id="22" name="No labelled faults circle"/>
          <p:cNvSpPr/>
          <p:nvPr/>
        </p:nvSpPr>
        <p:spPr>
          <a:xfrm>
            <a:off x="548640" y="4754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No labelled faults icon" descr="No labelled faul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89204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80160" y="4709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 labelled faults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1280160" y="50749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Machines are not broken on purpose, so there is almost nothing to train on.</a:t>
            </a:r>
            <a:endParaRPr lang="en-US" sz="1400" dirty="0"/>
          </a:p>
        </p:txBody>
      </p:sp>
      <p:sp>
        <p:nvSpPr>
          <p:cNvPr id="26" name="Speed is not exact circle"/>
          <p:cNvSpPr/>
          <p:nvPr/>
        </p:nvSpPr>
        <p:spPr>
          <a:xfrm>
            <a:off x="4343400" y="4754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Speed is not exact icon" descr="Speed is not exac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489204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074920" y="4709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Speed is not exact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5074920" y="50749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Textbook fault frequencies assume the nameplate speed.</a:t>
            </a:r>
            <a:endParaRPr lang="en-US" sz="1400" dirty="0"/>
          </a:p>
        </p:txBody>
      </p:sp>
      <p:sp>
        <p:nvSpPr>
          <p:cNvPr id="30" name="Sensors hear neighbours circle"/>
          <p:cNvSpPr/>
          <p:nvPr/>
        </p:nvSpPr>
        <p:spPr>
          <a:xfrm>
            <a:off x="8138160" y="4754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Sensors hear neighbours icon" descr="Sensors hear neighbour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489204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869680" y="4709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Sensors hear neighbours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869680" y="50749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failing bearing shakes the whole shaft and housing.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cracked bearing clicks; its rhythm names the broken part</a:t>
            </a:r>
            <a:endParaRPr lang="en-US" sz="3000" dirty="0"/>
          </a:p>
        </p:txBody>
      </p:sp>
      <p:sp>
        <p:nvSpPr>
          <p:cNvPr id="3" name="outer race"/>
          <p:cNvSpPr/>
          <p:nvPr/>
        </p:nvSpPr>
        <p:spPr>
          <a:xfrm>
            <a:off x="1097280" y="2148840"/>
            <a:ext cx="3291840" cy="3291840"/>
          </a:xfrm>
          <a:prstGeom prst="ellipse">
            <a:avLst/>
          </a:prstGeom>
          <a:solidFill>
            <a:srgbClr val="9AB3C8"/>
          </a:solidFill>
          <a:ln w="12700">
            <a:solidFill>
              <a:srgbClr val="9AB3C8"/>
            </a:solidFill>
            <a:prstDash val="solid"/>
          </a:ln>
        </p:spPr>
      </p:sp>
      <p:sp>
        <p:nvSpPr>
          <p:cNvPr id="4" name="outer race bore"/>
          <p:cNvSpPr/>
          <p:nvPr/>
        </p:nvSpPr>
        <p:spPr>
          <a:xfrm>
            <a:off x="1393546" y="2445106"/>
            <a:ext cx="2699309" cy="269930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inner race"/>
          <p:cNvSpPr/>
          <p:nvPr/>
        </p:nvSpPr>
        <p:spPr>
          <a:xfrm>
            <a:off x="1920240" y="2971800"/>
            <a:ext cx="1645920" cy="1645920"/>
          </a:xfrm>
          <a:prstGeom prst="ellipse">
            <a:avLst/>
          </a:prstGeom>
          <a:solidFill>
            <a:srgbClr val="9AB3C8"/>
          </a:solidFill>
          <a:ln w="12700">
            <a:solidFill>
              <a:srgbClr val="9AB3C8"/>
            </a:solidFill>
            <a:prstDash val="solid"/>
          </a:ln>
        </p:spPr>
      </p:sp>
      <p:sp>
        <p:nvSpPr>
          <p:cNvPr id="6" name="shaft bore"/>
          <p:cNvSpPr/>
          <p:nvPr/>
        </p:nvSpPr>
        <p:spPr>
          <a:xfrm>
            <a:off x="2216506" y="3268066"/>
            <a:ext cx="1053389" cy="105338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rolling element 1"/>
          <p:cNvSpPr/>
          <p:nvPr/>
        </p:nvSpPr>
        <p:spPr>
          <a:xfrm>
            <a:off x="3599078" y="3564331"/>
            <a:ext cx="460858" cy="460858"/>
          </a:xfrm>
          <a:prstGeom prst="ellipse">
            <a:avLst/>
          </a:prstGeom>
          <a:solidFill>
            <a:srgbClr val="3F7CAC"/>
          </a:solidFill>
          <a:ln w="12700">
            <a:solidFill>
              <a:srgbClr val="3F7CAC"/>
            </a:solidFill>
            <a:prstDash val="solid"/>
          </a:ln>
        </p:spPr>
      </p:sp>
      <p:sp>
        <p:nvSpPr>
          <p:cNvPr id="8" name="rolling element 2"/>
          <p:cNvSpPr/>
          <p:nvPr/>
        </p:nvSpPr>
        <p:spPr>
          <a:xfrm>
            <a:off x="3391612" y="4202847"/>
            <a:ext cx="460858" cy="460858"/>
          </a:xfrm>
          <a:prstGeom prst="ellipse">
            <a:avLst/>
          </a:prstGeom>
          <a:solidFill>
            <a:srgbClr val="3F7CAC"/>
          </a:solidFill>
          <a:ln w="12700">
            <a:solidFill>
              <a:srgbClr val="3F7CAC"/>
            </a:solidFill>
            <a:prstDash val="solid"/>
          </a:ln>
        </p:spPr>
      </p:sp>
      <p:sp>
        <p:nvSpPr>
          <p:cNvPr id="9" name="rolling element 3"/>
          <p:cNvSpPr/>
          <p:nvPr/>
        </p:nvSpPr>
        <p:spPr>
          <a:xfrm>
            <a:off x="2848459" y="4597471"/>
            <a:ext cx="460858" cy="460858"/>
          </a:xfrm>
          <a:prstGeom prst="ellipse">
            <a:avLst/>
          </a:prstGeom>
          <a:solidFill>
            <a:srgbClr val="3F7CAC"/>
          </a:solidFill>
          <a:ln w="12700">
            <a:solidFill>
              <a:srgbClr val="3F7CAC"/>
            </a:solidFill>
            <a:prstDash val="solid"/>
          </a:ln>
        </p:spPr>
      </p:sp>
      <p:sp>
        <p:nvSpPr>
          <p:cNvPr id="10" name="rolling element 4"/>
          <p:cNvSpPr/>
          <p:nvPr/>
        </p:nvSpPr>
        <p:spPr>
          <a:xfrm>
            <a:off x="2177084" y="4597471"/>
            <a:ext cx="460858" cy="460858"/>
          </a:xfrm>
          <a:prstGeom prst="ellipse">
            <a:avLst/>
          </a:prstGeom>
          <a:solidFill>
            <a:srgbClr val="3F7CAC"/>
          </a:solidFill>
          <a:ln w="12700">
            <a:solidFill>
              <a:srgbClr val="3F7CAC"/>
            </a:solidFill>
            <a:prstDash val="solid"/>
          </a:ln>
        </p:spPr>
      </p:sp>
      <p:sp>
        <p:nvSpPr>
          <p:cNvPr id="11" name="rolling element 5"/>
          <p:cNvSpPr/>
          <p:nvPr/>
        </p:nvSpPr>
        <p:spPr>
          <a:xfrm>
            <a:off x="1633930" y="4202847"/>
            <a:ext cx="460858" cy="460858"/>
          </a:xfrm>
          <a:prstGeom prst="ellipse">
            <a:avLst/>
          </a:prstGeom>
          <a:solidFill>
            <a:srgbClr val="3F7CAC"/>
          </a:solidFill>
          <a:ln w="12700">
            <a:solidFill>
              <a:srgbClr val="3F7CAC"/>
            </a:solidFill>
            <a:prstDash val="solid"/>
          </a:ln>
        </p:spPr>
      </p:sp>
      <p:sp>
        <p:nvSpPr>
          <p:cNvPr id="12" name="rolling element 6"/>
          <p:cNvSpPr/>
          <p:nvPr/>
        </p:nvSpPr>
        <p:spPr>
          <a:xfrm>
            <a:off x="1426464" y="3564331"/>
            <a:ext cx="460858" cy="460858"/>
          </a:xfrm>
          <a:prstGeom prst="ellipse">
            <a:avLst/>
          </a:prstGeom>
          <a:solidFill>
            <a:srgbClr val="3F7CAC"/>
          </a:solidFill>
          <a:ln w="12700">
            <a:solidFill>
              <a:srgbClr val="3F7CAC"/>
            </a:solidFill>
            <a:prstDash val="solid"/>
          </a:ln>
        </p:spPr>
      </p:sp>
      <p:sp>
        <p:nvSpPr>
          <p:cNvPr id="13" name="rolling element 7"/>
          <p:cNvSpPr/>
          <p:nvPr/>
        </p:nvSpPr>
        <p:spPr>
          <a:xfrm>
            <a:off x="1633930" y="2925816"/>
            <a:ext cx="460858" cy="460858"/>
          </a:xfrm>
          <a:prstGeom prst="ellipse">
            <a:avLst/>
          </a:prstGeom>
          <a:solidFill>
            <a:srgbClr val="3F7CAC"/>
          </a:solidFill>
          <a:ln w="12700">
            <a:solidFill>
              <a:srgbClr val="3F7CAC"/>
            </a:solidFill>
            <a:prstDash val="solid"/>
          </a:ln>
        </p:spPr>
      </p:sp>
      <p:sp>
        <p:nvSpPr>
          <p:cNvPr id="14" name="rolling element 8"/>
          <p:cNvSpPr/>
          <p:nvPr/>
        </p:nvSpPr>
        <p:spPr>
          <a:xfrm>
            <a:off x="2177084" y="2531192"/>
            <a:ext cx="460858" cy="460858"/>
          </a:xfrm>
          <a:prstGeom prst="ellipse">
            <a:avLst/>
          </a:prstGeom>
          <a:solidFill>
            <a:srgbClr val="3F7CAC"/>
          </a:solidFill>
          <a:ln w="12700">
            <a:solidFill>
              <a:srgbClr val="3F7CAC"/>
            </a:solidFill>
            <a:prstDash val="solid"/>
          </a:ln>
        </p:spPr>
      </p:sp>
      <p:sp>
        <p:nvSpPr>
          <p:cNvPr id="15" name="rolling element 9"/>
          <p:cNvSpPr/>
          <p:nvPr/>
        </p:nvSpPr>
        <p:spPr>
          <a:xfrm>
            <a:off x="2848459" y="2531192"/>
            <a:ext cx="460858" cy="460858"/>
          </a:xfrm>
          <a:prstGeom prst="ellipse">
            <a:avLst/>
          </a:prstGeom>
          <a:solidFill>
            <a:srgbClr val="3F7CAC"/>
          </a:solidFill>
          <a:ln w="12700">
            <a:solidFill>
              <a:srgbClr val="3F7CAC"/>
            </a:solidFill>
            <a:prstDash val="solid"/>
          </a:ln>
        </p:spPr>
      </p:sp>
      <p:sp>
        <p:nvSpPr>
          <p:cNvPr id="16" name="rolling element 10"/>
          <p:cNvSpPr/>
          <p:nvPr/>
        </p:nvSpPr>
        <p:spPr>
          <a:xfrm>
            <a:off x="3391612" y="2925816"/>
            <a:ext cx="460858" cy="460858"/>
          </a:xfrm>
          <a:prstGeom prst="ellipse">
            <a:avLst/>
          </a:prstGeom>
          <a:solidFill>
            <a:srgbClr val="3F7CAC"/>
          </a:solidFill>
          <a:ln w="12700">
            <a:solidFill>
              <a:srgbClr val="3F7CA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1645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Outer race (still)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1645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Rolling elements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715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Inner race (turns with shaft)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5715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Cage holds the rollers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645920"/>
          <a:ext cx="576072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77240"/>
                <a:gridCol w="1051560"/>
                <a:gridCol w="2606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Damage 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Rhythm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At 2,000 rpm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Why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Outer race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BPFO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236.4 Hz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Rollers pass the still crack one after another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Inner race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BPFI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296.9 Hz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Crack turns with the shaft and meets rollers more often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Rolling element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2BSF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279.8 Hz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Damaged roller hits both rings once per spin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FTF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14.8 Hz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Cage carries the rollers slowly around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5852160" y="44348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Like a pebble in a bike tyre: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count the ticks per second and you know which wheel it is in.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852160" y="530352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BPFO / BPFI = Ball Pass Frequency, Outer / Inner race · BSF = Ball Spin Frequency · FTF = Fundamental Train (cage) Frequency · Hz = times per second · rpm = revolutions per minute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NASA/IMS data: three tests run until a bearing failed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9,464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one-second snapshots, about every 10 minutes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4173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kHz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23317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sampling rate: 20,480 values per snapshot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4173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23317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bearings that failed, to be found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052560" y="14173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9052560" y="23317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bearings that stayed healthy, not to be flagged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80160"/>
                <a:gridCol w="1188720"/>
                <a:gridCol w="2377440"/>
                <a:gridCol w="182880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Test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Snapshots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Duration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Sensors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Failed bearing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What broke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Set 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2,156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828 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 (x and y per bearing)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B3 and B4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Inner race (B3), rolling element (B4)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Set 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984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164 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 (one per bearing)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Outer race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Set 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6,324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1,073 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 (one per bearing)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Outer race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Four Rexnord ZA-2115 bearings on one shaft, nominal 2,000 rpm, constant radial load. IMS = Center for Intelligent Maintenance Systems, University of Cincinnati. B1-B4 = bearing 1-4.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In the data, the click becomes sharp peaks at 230, 461 and 692 Hz</a:t>
            </a:r>
            <a:endParaRPr lang="en-US" sz="3000" dirty="0"/>
          </a:p>
        </p:txBody>
      </p:sp>
      <p:pic>
        <p:nvPicPr>
          <p:cNvPr id="3" name="healthy vs failing figure" descr="Healthy vs failing bearing: raw signal and envelope spectru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8778240" cy="47552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55480" y="1554480"/>
            <a:ext cx="2103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Envelope spectrum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1. Trace the outline of the spikes (the envelope).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2. Ask which rhythms the outline contains, with the FFT (Fast Fourier Transform).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3. A repeating click becomes a sharp peak, plus its multiples.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usual method trips in four places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3"/>
                </a:solidFill>
              </a:rPr>
              <a:t>Usual method: filter 1-9 kHz → envelope spectrum → read peaks at textbook frequencies → compare with the bearing's own early data</a:t>
            </a:r>
            <a:endParaRPr lang="en-US" sz="1500" dirty="0"/>
          </a:p>
        </p:txBody>
      </p:sp>
      <p:sp>
        <p:nvSpPr>
          <p:cNvPr id="4" name="trip Fixed filter band"/>
          <p:cNvSpPr/>
          <p:nvPr/>
        </p:nvSpPr>
        <p:spPr>
          <a:xfrm>
            <a:off x="548640" y="1920240"/>
            <a:ext cx="544068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Fixed filter band circle"/>
          <p:cNvSpPr/>
          <p:nvPr/>
        </p:nvSpPr>
        <p:spPr>
          <a:xfrm>
            <a:off x="777240" y="2148840"/>
            <a:ext cx="594360" cy="5943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Fixed filter band icon" descr="Fixed filter ba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29743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1762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Fixed filter band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65176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chemeClr val="tx1"/>
                </a:solidFill>
              </a:rPr>
              <a:t>Like listening to one radio station while the song moves.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ringing frequency differs per sensor and shifts as damage grows.</a:t>
            </a:r>
            <a:endParaRPr lang="en-US" sz="1400" dirty="0"/>
          </a:p>
        </p:txBody>
      </p:sp>
      <p:sp>
        <p:nvSpPr>
          <p:cNvPr id="9" name="trip Textbook frequencies"/>
          <p:cNvSpPr/>
          <p:nvPr/>
        </p:nvSpPr>
        <p:spPr>
          <a:xfrm>
            <a:off x="6172200" y="1920240"/>
            <a:ext cx="544068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book frequencies circle"/>
          <p:cNvSpPr/>
          <p:nvPr/>
        </p:nvSpPr>
        <p:spPr>
          <a:xfrm>
            <a:off x="6400800" y="2148840"/>
            <a:ext cx="594360" cy="5943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1" name="Textbook frequencies icon" descr="Textbook frequenci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390" y="229743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21762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Textbook frequencies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178040" y="265176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chemeClr val="tx1"/>
                </a:solidFill>
              </a:rPr>
              <a:t>Like looking for a friend at seat 236 when they sit at 230.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real machine runs about 2.5% slow, so the peaks sit beside where we look.</a:t>
            </a:r>
            <a:endParaRPr lang="en-US" sz="1400" dirty="0"/>
          </a:p>
        </p:txBody>
      </p:sp>
      <p:sp>
        <p:nvSpPr>
          <p:cNvPr id="14" name="trip Raw peak heights"/>
          <p:cNvSpPr/>
          <p:nvPr/>
        </p:nvSpPr>
        <p:spPr>
          <a:xfrm>
            <a:off x="548640" y="4114800"/>
            <a:ext cx="544068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Raw peak heights circle"/>
          <p:cNvSpPr/>
          <p:nvPr/>
        </p:nvSpPr>
        <p:spPr>
          <a:xfrm>
            <a:off x="777240" y="4343400"/>
            <a:ext cx="594360" cy="5943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6" name="Raw peak heights icon" descr="Raw peak heigh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449199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3708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Raw peak heights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484632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chemeClr val="tx1"/>
                </a:solidFill>
              </a:rPr>
              <a:t>When the whole bearing gets louder, every peak grows.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All three fault scores rise together; the tallest is nearly random.</a:t>
            </a:r>
            <a:endParaRPr lang="en-US" sz="1400" dirty="0"/>
          </a:p>
        </p:txBody>
      </p:sp>
      <p:sp>
        <p:nvSpPr>
          <p:cNvPr id="19" name="trip Own early data as normal"/>
          <p:cNvSpPr/>
          <p:nvPr/>
        </p:nvSpPr>
        <p:spPr>
          <a:xfrm>
            <a:off x="6172200" y="4114800"/>
            <a:ext cx="5440680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Own early data as normal circle"/>
          <p:cNvSpPr/>
          <p:nvPr/>
        </p:nvSpPr>
        <p:spPr>
          <a:xfrm>
            <a:off x="6400800" y="4343400"/>
            <a:ext cx="594360" cy="5943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1" name="Own early data as normal icon" descr="Own early data as norm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9390" y="449199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78040" y="43708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Own early data as normal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7178040" y="484632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chemeClr val="tx1"/>
                </a:solidFill>
              </a:rPr>
              <a:t>Like checking for illness against yesterday, when you were already ill.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fault present from the start is absorbed into normal.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Three findings from the data shaped the method</a:t>
            </a:r>
            <a:endParaRPr lang="en-US" sz="3000" dirty="0"/>
          </a:p>
        </p:txBody>
      </p:sp>
      <p:sp>
        <p:nvSpPr>
          <p:cNvPr id="3" name="finding 1"/>
          <p:cNvSpPr/>
          <p:nvPr/>
        </p:nvSpPr>
        <p:spPr>
          <a:xfrm>
            <a:off x="548640" y="1508760"/>
            <a:ext cx="352044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2.5%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06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slower than the nameplate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outer-race peak sits at 230 Hz, not 236.4 Hz. Real speed is about 1,950 rpm.</a:t>
            </a:r>
            <a:endParaRPr lang="en-US" sz="1400" dirty="0"/>
          </a:p>
        </p:txBody>
      </p:sp>
      <p:sp>
        <p:nvSpPr>
          <p:cNvPr id="7" name="finding 2"/>
          <p:cNvSpPr/>
          <p:nvPr/>
        </p:nvSpPr>
        <p:spPr>
          <a:xfrm>
            <a:off x="4343400" y="1508760"/>
            <a:ext cx="352044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16916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606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sensor hears the failing bearing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32461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 set 3, healthy B4 showed the outer-race rhythm as strongly as failing B3. Rhythm says what, not where.</a:t>
            </a:r>
            <a:endParaRPr lang="en-US" sz="1400" dirty="0"/>
          </a:p>
        </p:txBody>
      </p:sp>
      <p:sp>
        <p:nvSpPr>
          <p:cNvPr id="11" name="finding 3"/>
          <p:cNvSpPr/>
          <p:nvPr/>
        </p:nvSpPr>
        <p:spPr>
          <a:xfrm>
            <a:off x="8138160" y="1508760"/>
            <a:ext cx="352044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0" y="16916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594 h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2606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before failure, a fault already visible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32461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Set 1 B4's cage rhythm is there early; set 2 B1's from its first hours. Own early data hides them.</a:t>
            </a:r>
            <a:endParaRPr lang="en-US" sz="1400" dirty="0"/>
          </a:p>
        </p:txBody>
      </p:sp>
      <p:sp>
        <p:nvSpPr>
          <p:cNvPr id="15" name="insight circle"/>
          <p:cNvSpPr/>
          <p:nvPr/>
        </p:nvSpPr>
        <p:spPr>
          <a:xfrm>
            <a:off x="548640" y="47548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nsight icon" descr="insig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892040"/>
            <a:ext cx="274320" cy="27432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280160" y="47091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does tell bearings apart: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loudness. The failing bearing's RMS (Root Mean Square, vibration energy) grows faster than its neighbours'.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Loudness says where and when; rhythm says what</a:t>
            </a:r>
            <a:endParaRPr lang="en-US" sz="3000" dirty="0"/>
          </a:p>
        </p:txBody>
      </p:sp>
      <p:sp>
        <p:nvSpPr>
          <p:cNvPr id="3" name="source"/>
          <p:cNvSpPr/>
          <p:nvPr/>
        </p:nvSpPr>
        <p:spPr>
          <a:xfrm>
            <a:off x="3813048" y="137160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EEF2F5"/>
          </a:solidFill>
          <a:ln w="15875">
            <a:solidFill>
              <a:srgbClr val="7A8B9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904488" y="13716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Raw snapshots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 s at 20 kHz from every sensor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Stage A · where and when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355080" y="20116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Stage B · what</a:t>
            </a:r>
            <a:endParaRPr lang="en-US" sz="1500" dirty="0"/>
          </a:p>
        </p:txBody>
      </p:sp>
      <p:sp>
        <p:nvSpPr>
          <p:cNvPr id="7" name="stage A step 1"/>
          <p:cNvSpPr/>
          <p:nvPr/>
        </p:nvSpPr>
        <p:spPr>
          <a:xfrm>
            <a:off x="548640" y="237744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3F7CA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3774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RMS health index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how much louder than its own healthy start</a:t>
            </a:r>
            <a:endParaRPr lang="en-US" sz="1500" dirty="0"/>
          </a:p>
        </p:txBody>
      </p:sp>
      <p:sp>
        <p:nvSpPr>
          <p:cNvPr id="9" name="stage A step 2"/>
          <p:cNvSpPr/>
          <p:nvPr/>
        </p:nvSpPr>
        <p:spPr>
          <a:xfrm>
            <a:off x="548640" y="3182112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3F7CA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18211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Peer contrast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minus the median growth of the other bearings</a:t>
            </a:r>
            <a:endParaRPr lang="en-US" sz="1500" dirty="0"/>
          </a:p>
        </p:txBody>
      </p:sp>
      <p:sp>
        <p:nvSpPr>
          <p:cNvPr id="11" name="stage A step 3"/>
          <p:cNvSpPr/>
          <p:nvPr/>
        </p:nvSpPr>
        <p:spPr>
          <a:xfrm>
            <a:off x="548640" y="3986784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3F7CA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98678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Persistent alarm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above the limit for about 1 hour</a:t>
            </a:r>
            <a:endParaRPr lang="en-US" sz="1500" dirty="0"/>
          </a:p>
        </p:txBody>
      </p:sp>
      <p:sp>
        <p:nvSpPr>
          <p:cNvPr id="13" name="stage B step 1"/>
          <p:cNvSpPr/>
          <p:nvPr/>
        </p:nvSpPr>
        <p:spPr>
          <a:xfrm>
            <a:off x="6355080" y="2377440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E896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23774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Adaptive band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tune to where the clicks ring</a:t>
            </a:r>
            <a:endParaRPr lang="en-US" sz="1500" dirty="0"/>
          </a:p>
        </p:txBody>
      </p:sp>
      <p:sp>
        <p:nvSpPr>
          <p:cNvPr id="15" name="stage B step 2"/>
          <p:cNvSpPr/>
          <p:nvPr/>
        </p:nvSpPr>
        <p:spPr>
          <a:xfrm>
            <a:off x="6355080" y="3182112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E896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318211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Whitened envelope spectrum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each peak measured against local noise</a:t>
            </a:r>
            <a:endParaRPr lang="en-US" sz="1500" dirty="0"/>
          </a:p>
        </p:txBody>
      </p:sp>
      <p:sp>
        <p:nvSpPr>
          <p:cNvPr id="17" name="stage B step 3"/>
          <p:cNvSpPr/>
          <p:nvPr/>
        </p:nvSpPr>
        <p:spPr>
          <a:xfrm>
            <a:off x="6355080" y="3986784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E896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398678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Rhythm combs + speed search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slide the ruler to the real speed</a:t>
            </a:r>
            <a:endParaRPr lang="en-US" sz="1500" dirty="0"/>
          </a:p>
        </p:txBody>
      </p:sp>
      <p:sp>
        <p:nvSpPr>
          <p:cNvPr id="19" name="stage B step 4"/>
          <p:cNvSpPr/>
          <p:nvPr/>
        </p:nvSpPr>
        <p:spPr>
          <a:xfrm>
            <a:off x="6355080" y="4791456"/>
            <a:ext cx="5120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E896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479145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Fault Evidence Index (FEI)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compared with all healthy bearings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108960" y="1874520"/>
            <a:ext cx="914" cy="502920"/>
          </a:xfrm>
          <a:prstGeom prst="line">
            <a:avLst/>
          </a:prstGeom>
          <a:noFill/>
          <a:ln w="15875">
            <a:solidFill>
              <a:srgbClr val="7A8B9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915400" y="1874520"/>
            <a:ext cx="914" cy="502920"/>
          </a:xfrm>
          <a:prstGeom prst="line">
            <a:avLst/>
          </a:prstGeom>
          <a:noFill/>
          <a:ln w="15875">
            <a:solidFill>
              <a:srgbClr val="7A8B9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108960" y="3017520"/>
            <a:ext cx="914" cy="164592"/>
          </a:xfrm>
          <a:prstGeom prst="line">
            <a:avLst/>
          </a:prstGeom>
          <a:noFill/>
          <a:ln w="15875">
            <a:solidFill>
              <a:srgbClr val="7A8B9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108960" y="3822192"/>
            <a:ext cx="914" cy="164592"/>
          </a:xfrm>
          <a:prstGeom prst="line">
            <a:avLst/>
          </a:prstGeom>
          <a:noFill/>
          <a:ln w="15875">
            <a:solidFill>
              <a:srgbClr val="7A8B9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915400" y="3017520"/>
            <a:ext cx="914" cy="164592"/>
          </a:xfrm>
          <a:prstGeom prst="line">
            <a:avLst/>
          </a:prstGeom>
          <a:noFill/>
          <a:ln w="15875">
            <a:solidFill>
              <a:srgbClr val="7A8B9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915400" y="3822192"/>
            <a:ext cx="914" cy="164592"/>
          </a:xfrm>
          <a:prstGeom prst="line">
            <a:avLst/>
          </a:prstGeom>
          <a:noFill/>
          <a:ln w="15875">
            <a:solidFill>
              <a:srgbClr val="7A8B9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915400" y="4626864"/>
            <a:ext cx="914" cy="164592"/>
          </a:xfrm>
          <a:prstGeom prst="line">
            <a:avLst/>
          </a:prstGeom>
          <a:noFill/>
          <a:ln w="15875">
            <a:solidFill>
              <a:srgbClr val="7A8B9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669280" y="4306824"/>
            <a:ext cx="685800" cy="813816"/>
          </a:xfrm>
          <a:prstGeom prst="line">
            <a:avLst/>
          </a:prstGeom>
          <a:noFill/>
          <a:ln w="15875">
            <a:solidFill>
              <a:srgbClr val="7A8B99"/>
            </a:solidFill>
            <a:prstDash val="dash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5074920" y="4754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alarm time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108960" y="4626864"/>
            <a:ext cx="914" cy="996696"/>
          </a:xfrm>
          <a:prstGeom prst="line">
            <a:avLst/>
          </a:prstGeom>
          <a:noFill/>
          <a:ln w="15875">
            <a:solidFill>
              <a:srgbClr val="7A8B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915400" y="5431536"/>
            <a:ext cx="914" cy="192024"/>
          </a:xfrm>
          <a:prstGeom prst="line">
            <a:avLst/>
          </a:prstGeom>
          <a:noFill/>
          <a:ln w="15875">
            <a:solidFill>
              <a:srgbClr val="7A8B99"/>
            </a:solidFill>
            <a:prstDash val="solid"/>
            <a:tailEnd type="triangle"/>
          </a:ln>
        </p:spPr>
      </p:sp>
      <p:sp>
        <p:nvSpPr>
          <p:cNvPr id="32" name="output"/>
          <p:cNvSpPr/>
          <p:nvPr/>
        </p:nvSpPr>
        <p:spPr>
          <a:xfrm>
            <a:off x="2194560" y="5623560"/>
            <a:ext cx="7799832" cy="640080"/>
          </a:xfrm>
          <a:prstGeom prst="roundRect">
            <a:avLst>
              <a:gd name="adj" fmla="val 11429"/>
            </a:avLst>
          </a:prstGeom>
          <a:solidFill>
            <a:srgbClr val="2E4A62"/>
          </a:solidFill>
          <a:ln w="15875">
            <a:solidFill>
              <a:srgbClr val="2E4A6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286000" y="5623560"/>
            <a:ext cx="7616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Diagnosis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which bearing · since when · which fault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Stage A: compare each bearing's loudness with its neighbours</a:t>
            </a:r>
            <a:endParaRPr lang="en-US" sz="3000" dirty="0"/>
          </a:p>
        </p:txBody>
      </p:sp>
      <p:sp>
        <p:nvSpPr>
          <p:cNvPr id="3" name="step 1 marker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4904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Health Index (HI)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89280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 = log( RMS now ÷ RMS in its healthy start 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2860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First 20% of the test = healthy. log(2) means twice as loud.</a:t>
            </a:r>
            <a:endParaRPr lang="en-US" sz="1400" dirty="0"/>
          </a:p>
        </p:txBody>
      </p:sp>
      <p:sp>
        <p:nvSpPr>
          <p:cNvPr id="8" name="step 2 marker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9535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Peer contrast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35584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HI − median HI of the other bearings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7490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Cancels anything that hits the whole machine: load, temperature, a neighbour's vibration.</a:t>
            </a:r>
            <a:endParaRPr lang="en-US" sz="1400" dirty="0"/>
          </a:p>
        </p:txBody>
      </p:sp>
      <p:sp>
        <p:nvSpPr>
          <p:cNvPr id="13" name="step 3 marker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4165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Persistent alarm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8188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&gt; max( 8 × normal spread, 0.15 ) for 6 snapshots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52120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0.15 ≈ 16% more energy than the peers; 6 snapshots ≈ 1 hour, so a single bump is ignored.</a:t>
            </a:r>
            <a:endParaRPr lang="en-US" sz="1400" dirty="0"/>
          </a:p>
        </p:txBody>
      </p:sp>
      <p:sp>
        <p:nvSpPr>
          <p:cNvPr id="18" name="analogy card"/>
          <p:cNvSpPr/>
          <p:nvPr/>
        </p:nvSpPr>
        <p:spPr>
          <a:xfrm>
            <a:off x="7680960" y="1508760"/>
            <a:ext cx="393192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lassroom circle"/>
          <p:cNvSpPr/>
          <p:nvPr/>
        </p:nvSpPr>
        <p:spPr>
          <a:xfrm>
            <a:off x="7909560" y="173736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classroom icon" descr="classro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8150" y="1885950"/>
            <a:ext cx="297180" cy="29718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641080" y="1783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Classroom analogy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7909560" y="2468880"/>
            <a:ext cx="3520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 the student whose voice is growing. If the whole class gets louder because the teacher left, that does not count.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680960" y="39776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/ 8</a:t>
            </a:r>
            <a:endParaRPr lang="en-US" sz="4800" dirty="0"/>
          </a:p>
        </p:txBody>
      </p:sp>
      <p:sp>
        <p:nvSpPr>
          <p:cNvPr id="24" name="Text 21"/>
          <p:cNvSpPr txBox="1"/>
          <p:nvPr/>
        </p:nvSpPr>
        <p:spPr>
          <a:xfrm>
            <a:off x="7680960" y="4892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healthy bearings falsely alarmed, with peer contrast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9692640" y="39776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/ 8</a:t>
            </a:r>
            <a:endParaRPr lang="en-US" sz="4800" dirty="0"/>
          </a:p>
        </p:txBody>
      </p:sp>
      <p:sp>
        <p:nvSpPr>
          <p:cNvPr id="26" name="Text 23"/>
          <p:cNvSpPr txBox="1"/>
          <p:nvPr/>
        </p:nvSpPr>
        <p:spPr>
          <a:xfrm>
            <a:off x="9692640" y="4892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without peer contrast (own loudness only)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Stage B: read the click rhythm, robust to speed and noise</a:t>
            </a:r>
            <a:endParaRPr lang="en-US" sz="3000" dirty="0"/>
          </a:p>
        </p:txBody>
      </p:sp>
      <p:sp>
        <p:nvSpPr>
          <p:cNvPr id="3" name="step 1 marker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Tune the radio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9222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Try 28 frequency bands; keep the one with the sharpest repeating rhythm.</a:t>
            </a:r>
            <a:endParaRPr lang="en-US" sz="1400" dirty="0"/>
          </a:p>
        </p:txBody>
      </p:sp>
      <p:sp>
        <p:nvSpPr>
          <p:cNvPr id="7" name="step 2 marker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377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Whiten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0662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Measure each peak against the noise around it, so loudness doesn't fake evidence.</a:t>
            </a:r>
            <a:endParaRPr lang="en-US" sz="1400" dirty="0"/>
          </a:p>
        </p:txBody>
      </p:sp>
      <p:sp>
        <p:nvSpPr>
          <p:cNvPr id="11" name="step 3 marker"/>
          <p:cNvSpPr/>
          <p:nvPr/>
        </p:nvSpPr>
        <p:spPr>
          <a:xfrm>
            <a:off x="548640" y="33375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291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Slide the ruler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62102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Fit each fault's comb of peaks at 95-101% of the nameplate speed.</a:t>
            </a:r>
            <a:endParaRPr lang="en-US" sz="1400" dirty="0"/>
          </a:p>
        </p:txBody>
      </p:sp>
      <p:sp>
        <p:nvSpPr>
          <p:cNvPr id="15" name="step 4 marker"/>
          <p:cNvSpPr/>
          <p:nvPr/>
        </p:nvSpPr>
        <p:spPr>
          <a:xfrm>
            <a:off x="548640" y="4251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206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Fault Evidence Index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53542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Robust z-score against the healthy data of all bearings in the test.</a:t>
            </a:r>
            <a:endParaRPr lang="en-US" sz="1400" dirty="0"/>
          </a:p>
        </p:txBody>
      </p:sp>
      <p:sp>
        <p:nvSpPr>
          <p:cNvPr id="19" name="step 5 marker"/>
          <p:cNvSpPr/>
          <p:nvPr/>
        </p:nvSpPr>
        <p:spPr>
          <a:xfrm>
            <a:off x="548640" y="51663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5120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Verdict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44982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Highest average FEI after Stage A's alarm; below 1 = "unspecified".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508760"/>
          <a:ext cx="49377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78308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Comb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Lines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Why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Outer race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1-3 × BPFO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Still ring: evenly spaced clicks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Inner race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1-3 × BPFI, ± shaft speed side peaks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Crack turns with the shaft, clicks swell once per turn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Rolling element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1-3 × 2BSF, 1-4 × FTF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Broken roller travels with the cage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Text 21"/>
          <p:cNvSpPr txBox="1"/>
          <p:nvPr/>
        </p:nvSpPr>
        <p:spPr>
          <a:xfrm>
            <a:off x="6675120" y="4343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FEI = (score − median of all healthy data) ÷ (1.4826 × MAD)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675120" y="48006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MAD = Median Absolute Deviation, a spread measure not fooled by outliers. FEI = 5 means 5 normal wobbles above normal.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All 4 failures caught, a median 61 hours before the end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74980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645920"/>
                <a:gridCol w="192024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Bearing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Truth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Alarm (h before end)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Verdict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Set 1 B4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Rolling element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96.7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Rolling element ✔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Set 2 B1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Outer race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69.5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Outer race ✔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Set 3 B3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Outer race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52.7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Outer race ✔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Set 1 B3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Inner race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11.7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Inner race ✔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Set 3 B4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Healthy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728.1 (short bump)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Unspecified (refused)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Set 2 B4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Healthy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3.7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Outer race ✘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Other 6 bearings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Healthy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 alarm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Healthy ✔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503920" y="14630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4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23774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failures detected and named correctly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503920" y="30632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 h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3977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median warning before the end of the test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46634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/ 8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55778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healthy bearings falsely alarmed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failing bearing's energy pulls away from its peers</a:t>
            </a:r>
            <a:endParaRPr lang="en-US" sz="3000" dirty="0"/>
          </a:p>
        </p:txBody>
      </p:sp>
      <p:pic>
        <p:nvPicPr>
          <p:cNvPr id="3" name="detection figure" descr="Peer-contrast energy growth per bearing with alarm tim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033943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0" y="1554480"/>
            <a:ext cx="47548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How to read 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Each line = one bearing's energy growth minus its neighbours'.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Thick line = the bearing that failed.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Dashed line = 0.15 limit; dotted lines = alarms.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Set 1 B4 rises 120 h before the end; set 1 B3 jumps only in the last 12 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Our margin is 2.7× to 50×; the usual method drops to a coin flip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74980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eparation explainer"/>
          <p:cNvSpPr/>
          <p:nvPr/>
        </p:nvSpPr>
        <p:spPr>
          <a:xfrm>
            <a:off x="8412480" y="1508760"/>
            <a:ext cx="3200400" cy="329184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41080" y="1691640"/>
            <a:ext cx="2788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Separation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= true fault's evidence ÷ strongest wrong fault's evidence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1.0 = coin flip.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Both methods name all 4 faults, but the usual one is right twice by a 3% margin.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Proposed: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weakest case still 2.7×.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At peak evidence, the true fault's comb lands on the peaks</a:t>
            </a:r>
            <a:endParaRPr lang="en-US" sz="3000" dirty="0"/>
          </a:p>
        </p:txBody>
      </p:sp>
      <p:pic>
        <p:nvPicPr>
          <p:cNvPr id="3" name="envelope figure" descr="Whitened envelope spectra of the four failed bearin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31536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0" y="1554480"/>
            <a:ext cx="52120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i="1" dirty="0">
                <a:solidFill>
                  <a:schemeClr val="tx1"/>
                </a:solidFill>
              </a:rPr>
              <a:t>Solid lines = true fault's comb; dashed = other faults.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Set 2 B1 and set 3 B3: clean outer-race peaks at 230, 461, 692 Hz.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Set 1 B3: inner-race peaks with shaft-speed side peaks.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Set 1 B4: cage-rhythm comb (14.4 Hz and multiples) already 594 h before the end.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usual method's three scores rise together; ours separate</a:t>
            </a:r>
            <a:endParaRPr lang="en-US" sz="3000" dirty="0"/>
          </a:p>
        </p:txBody>
      </p:sp>
      <p:pic>
        <p:nvPicPr>
          <p:cNvPr id="3" name="evidence timeline figure" descr="Fault evidence per fault type over the last 150 hours, proposed vs usual metho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835535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675120" y="1554480"/>
            <a:ext cx="49377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Left column: proposed method.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One colour (one fault type) clearly rises above the others.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Right column: usual method.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All three colours climb together, because the whole bearing just got louder.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Remove one ingredient and the diagnosis breaks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ablation 1"/>
          <p:cNvSpPr/>
          <p:nvPr/>
        </p:nvSpPr>
        <p:spPr>
          <a:xfrm>
            <a:off x="7863840" y="1600200"/>
            <a:ext cx="3749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Without the speed search circle"/>
          <p:cNvSpPr/>
          <p:nvPr/>
        </p:nvSpPr>
        <p:spPr>
          <a:xfrm>
            <a:off x="8092440" y="182880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Without the speed search icon" descr="Without the speed 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96596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778240" y="18288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Without the speed search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092440" y="2468880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Textbook frequencies miss the real peaks by 6-18 Hz; 3 of 4 verdicts become "unspecified". Only the slow cage rhythm survives.</a:t>
            </a:r>
            <a:endParaRPr lang="en-US" sz="1300" dirty="0"/>
          </a:p>
        </p:txBody>
      </p:sp>
      <p:sp>
        <p:nvSpPr>
          <p:cNvPr id="9" name="ablation 2"/>
          <p:cNvSpPr/>
          <p:nvPr/>
        </p:nvSpPr>
        <p:spPr>
          <a:xfrm>
            <a:off x="7863840" y="3840480"/>
            <a:ext cx="37490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Own early data as normal circle"/>
          <p:cNvSpPr/>
          <p:nvPr/>
        </p:nvSpPr>
        <p:spPr>
          <a:xfrm>
            <a:off x="8092440" y="406908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1" name="Own early data as normal icon" descr="Own early data as norm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20624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78240" y="40690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Own early data as normal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8092440" y="4709160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Set 1 B4's cage rhythm was there from the start, so it counted as normal and the fault was lost.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Honest limitations</a:t>
            </a:r>
            <a:endParaRPr lang="en-US" sz="3000" dirty="0"/>
          </a:p>
        </p:txBody>
      </p:sp>
      <p:sp>
        <p:nvSpPr>
          <p:cNvPr id="3" name="limitation 1"/>
          <p:cNvSpPr/>
          <p:nvPr/>
        </p:nvSpPr>
        <p:spPr>
          <a:xfrm>
            <a:off x="548640" y="1508760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Only 4 failures circle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Only 4 failures icon" descr="Only 4 failu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202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7335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Only 4 failures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21031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Limits were chosen on the same data: a case study, not a proven accuracy.</a:t>
            </a:r>
            <a:endParaRPr lang="en-US" sz="1400" dirty="0"/>
          </a:p>
        </p:txBody>
      </p:sp>
      <p:sp>
        <p:nvSpPr>
          <p:cNvPr id="8" name="limitation 2"/>
          <p:cNvSpPr/>
          <p:nvPr/>
        </p:nvSpPr>
        <p:spPr>
          <a:xfrm>
            <a:off x="6172200" y="1508760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2 of 8 false alarms circle"/>
          <p:cNvSpPr/>
          <p:nvPr/>
        </p:nvSpPr>
        <p:spPr>
          <a:xfrm>
            <a:off x="6400800" y="17830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2 of 8 false alarms icon" descr="2 of 8 false alarm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9202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32320" y="167335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2 of 8 false alarms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7132320" y="21031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came during the neighbour's breakdown and copied its fault label.</a:t>
            </a:r>
            <a:endParaRPr lang="en-US" sz="1400" dirty="0"/>
          </a:p>
        </p:txBody>
      </p:sp>
      <p:sp>
        <p:nvSpPr>
          <p:cNvPr id="13" name="limitation 3"/>
          <p:cNvSpPr/>
          <p:nvPr/>
        </p:nvSpPr>
        <p:spPr>
          <a:xfrm>
            <a:off x="548640" y="3063240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nner race shows late circle"/>
          <p:cNvSpPr/>
          <p:nvPr/>
        </p:nvSpPr>
        <p:spPr>
          <a:xfrm>
            <a:off x="777240" y="33375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nner race shows late icon" descr="Inner race shows la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32278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Inner race shows late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508760" y="36576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Set 1 B3's rhythm appears only in the last ~12 hours.</a:t>
            </a:r>
            <a:endParaRPr lang="en-US" sz="1400" dirty="0"/>
          </a:p>
        </p:txBody>
      </p:sp>
      <p:sp>
        <p:nvSpPr>
          <p:cNvPr id="18" name="limitation 4"/>
          <p:cNvSpPr/>
          <p:nvPr/>
        </p:nvSpPr>
        <p:spPr>
          <a:xfrm>
            <a:off x="6172200" y="3063240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peed must be steady circle"/>
          <p:cNvSpPr/>
          <p:nvPr/>
        </p:nvSpPr>
        <p:spPr>
          <a:xfrm>
            <a:off x="6400800" y="33375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Speed must be steady icon" descr="Speed must be stead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47472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32320" y="32278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Speed must be steady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7132320" y="36576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Varying speed would need a tachometer (speed sensor) for order tracking.</a:t>
            </a:r>
            <a:endParaRPr lang="en-US" sz="1400" dirty="0"/>
          </a:p>
        </p:txBody>
      </p:sp>
      <p:sp>
        <p:nvSpPr>
          <p:cNvPr id="23" name="limitation 5"/>
          <p:cNvSpPr/>
          <p:nvPr/>
        </p:nvSpPr>
        <p:spPr>
          <a:xfrm>
            <a:off x="548640" y="4617720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Needs peers circle"/>
          <p:cNvSpPr/>
          <p:nvPr/>
        </p:nvSpPr>
        <p:spPr>
          <a:xfrm>
            <a:off x="777240" y="48920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Needs peers icon" descr="Needs peer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02920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508760" y="478231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Needs peers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1508760" y="521208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Peer contrast assumes similar bearings on one machine, and weakens if several fail at once.</a:t>
            </a:r>
            <a:endParaRPr lang="en-US" sz="1400" dirty="0"/>
          </a:p>
        </p:txBody>
      </p:sp>
      <p:sp>
        <p:nvSpPr>
          <p:cNvPr id="28" name="limitation 6"/>
          <p:cNvSpPr/>
          <p:nvPr/>
        </p:nvSpPr>
        <p:spPr>
          <a:xfrm>
            <a:off x="6172200" y="4617720"/>
            <a:ext cx="54406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Deep learning needs faults circle"/>
          <p:cNvSpPr/>
          <p:nvPr/>
        </p:nvSpPr>
        <p:spPr>
          <a:xfrm>
            <a:off x="6400800" y="48920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0" name="Deep learning needs faults icon" descr="Deep learning needs fault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502920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132320" y="478231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Deep learning needs faults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7132320" y="521208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With 1 inner and 1 roller example, a CNN on real labels named only 2/4.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Deep-learning option: features in, three networks tested</a:t>
            </a:r>
            <a:endParaRPr lang="en-US" sz="3000" dirty="0"/>
          </a:p>
        </p:txBody>
      </p:sp>
      <p:sp>
        <p:nvSpPr>
          <p:cNvPr id="3" name="network 1"/>
          <p:cNvSpPr/>
          <p:nvPr/>
        </p:nvSpPr>
        <p:spPr>
          <a:xfrm>
            <a:off x="548640" y="1508760"/>
            <a:ext cx="352044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1 · Autoencoder (AE) circle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D1 · Autoencoder (AE) icon" descr="D1 · Autoencoder (AE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973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737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D1 · Autoencoder (AE)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2103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Where and when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5176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Input: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16 condition features per snapshot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Learns to copy healthy snapshots; a failing bearing is copied badly.</a:t>
            </a:r>
            <a:endParaRPr lang="en-US" sz="1400" dirty="0"/>
          </a:p>
        </p:txBody>
      </p:sp>
      <p:sp>
        <p:nvSpPr>
          <p:cNvPr id="9" name="labels badge 1"/>
          <p:cNvSpPr/>
          <p:nvPr/>
        </p:nvSpPr>
        <p:spPr>
          <a:xfrm>
            <a:off x="822960" y="3977640"/>
            <a:ext cx="1737360" cy="36576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3977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No fault labels</a:t>
            </a:r>
            <a:endParaRPr lang="en-US" sz="1300" dirty="0"/>
          </a:p>
        </p:txBody>
      </p:sp>
      <p:sp>
        <p:nvSpPr>
          <p:cNvPr id="11" name="network 2"/>
          <p:cNvSpPr/>
          <p:nvPr/>
        </p:nvSpPr>
        <p:spPr>
          <a:xfrm>
            <a:off x="4343400" y="1508760"/>
            <a:ext cx="352044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D2 · Sim-to-real CNN circle"/>
          <p:cNvSpPr/>
          <p:nvPr/>
        </p:nvSpPr>
        <p:spPr>
          <a:xfrm>
            <a:off x="4617720" y="17373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D2 · Sim-to-real CNN icon" descr="D2 · Sim-to-real CN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189738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94960" y="1737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D2 · Sim-to-real CNN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5394960" y="2103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What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617720" y="265176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Input: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Envelope spectrum, 1,024 numbers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1D Convolutional Neural Network trained only on simulated faults.</a:t>
            </a:r>
            <a:endParaRPr lang="en-US" sz="1400" dirty="0"/>
          </a:p>
        </p:txBody>
      </p:sp>
      <p:sp>
        <p:nvSpPr>
          <p:cNvPr id="17" name="labels badge 2"/>
          <p:cNvSpPr/>
          <p:nvPr/>
        </p:nvSpPr>
        <p:spPr>
          <a:xfrm>
            <a:off x="4617720" y="3977640"/>
            <a:ext cx="1737360" cy="36576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617720" y="3977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No real labels</a:t>
            </a:r>
            <a:endParaRPr lang="en-US" sz="1300" dirty="0"/>
          </a:p>
        </p:txBody>
      </p:sp>
      <p:sp>
        <p:nvSpPr>
          <p:cNvPr id="19" name="network 3"/>
          <p:cNvSpPr/>
          <p:nvPr/>
        </p:nvSpPr>
        <p:spPr>
          <a:xfrm>
            <a:off x="8138160" y="1508760"/>
            <a:ext cx="352044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D3 · Supervised CNN circle"/>
          <p:cNvSpPr/>
          <p:nvPr/>
        </p:nvSpPr>
        <p:spPr>
          <a:xfrm>
            <a:off x="8412480" y="17373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D3 · Supervised CNN icon" descr="D3 · Supervised CN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1897380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189720" y="1737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D3 · Supervised CNN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9189720" y="2103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What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8412480" y="265176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Input: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Envelope spectrum, 1,024 numbers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Same CNN trained on real fault snapshots, Leave-One-Run-Out.</a:t>
            </a:r>
            <a:endParaRPr lang="en-US" sz="1400" dirty="0"/>
          </a:p>
        </p:txBody>
      </p:sp>
      <p:sp>
        <p:nvSpPr>
          <p:cNvPr id="25" name="labels badge 3"/>
          <p:cNvSpPr/>
          <p:nvPr/>
        </p:nvSpPr>
        <p:spPr>
          <a:xfrm>
            <a:off x="8412480" y="3977640"/>
            <a:ext cx="1737360" cy="36576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412480" y="3977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Real labels</a:t>
            </a:r>
            <a:endParaRPr lang="en-US" sz="1300" dirty="0"/>
          </a:p>
        </p:txBody>
      </p:sp>
      <p:sp>
        <p:nvSpPr>
          <p:cNvPr id="27" name="data warning circle"/>
          <p:cNvSpPr/>
          <p:nvPr/>
        </p:nvSpPr>
        <p:spPr>
          <a:xfrm>
            <a:off x="548640" y="4892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data warning icon" descr="data warn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029200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280160" y="48463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catch: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dataset has only 1 inner-race and 1 rolling-element failure, like learning "zebra" from a single photo.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D1 autoencoder: earlier, cleaner alarms, but one miss</a:t>
            </a:r>
            <a:endParaRPr lang="en-US" sz="3000" dirty="0"/>
          </a:p>
        </p:txBody>
      </p:sp>
      <p:pic>
        <p:nvPicPr>
          <p:cNvPr id="3" name="autoencoder figure" descr="Autoencoder reconstruction error compared with neighbouring bearin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922203" cy="48463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766560" y="14173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8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6766560" y="2331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false alarms (Stage A: 2/8)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326880" y="14173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 h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9326880" y="23317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median warning (Stage A: 61 h)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766560" y="31546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4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6766560" y="40690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failures detected (Stage A: 4/4)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48920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tx1"/>
                </a:solidFill>
              </a:rPr>
              <a:t>Like a student who only practised copying healthy heartbeats: an irregular one comes out clumsy.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Set 1 inner race flagged 71 h early (Stage A: 12 h). Set 3 B3 missed: its noisy healthy period set the limit too high.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D2: train on simulated faults, like a pilot in a simulator</a:t>
            </a:r>
            <a:endParaRPr lang="en-US" sz="3000" dirty="0"/>
          </a:p>
        </p:txBody>
      </p:sp>
      <p:pic>
        <p:nvPicPr>
          <p:cNvPr id="3" name="synthetic examples figure" descr="Synthetic training examples: healthy spectrum plus injected fault comb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537960" cy="4754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0" y="1463040"/>
            <a:ext cx="4297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Recipe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Real healthy spectrum + a painted fault rhythm at a random speed (95-101%) + random distractor peaks.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Fair-test rules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Never sees a real fault.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Backgrounds only from the other two tests.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457200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89-93%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7315200" y="54864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accuracy on fresh synthetic examples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Simulated training beats real labels; physics still wins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548640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777240"/>
                <a:gridCol w="96012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Identification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Correct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Last 48 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Why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Stage B: physics combs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</a:rPr>
                        <a:t>4 / 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0.61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Knows every rhythm in advance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D2: CNN, simulated faults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 / 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0.51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Roller left "unspecified"; no fault on any healthy bearing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D3: CNN, real labels (LORO)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2 / 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0.45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Held-out inner / roller has no training 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34340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Deep learning needs examples;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physics can create them. A combined system: autoencoder for detection, then physics combs and the simulated-fault CNN agreeing on the fault type.</a:t>
            </a:r>
            <a:endParaRPr lang="en-US" sz="1500" dirty="0"/>
          </a:p>
        </p:txBody>
      </p:sp>
      <p:pic>
        <p:nvPicPr>
          <p:cNvPr id="5" name="cnn probabilities figure" descr="Class probabilities from the CNN trained only on simulated faul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371600"/>
            <a:ext cx="5330952" cy="4846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Loudness finds it; rhythm names it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86200"/>
            <a:ext cx="6583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accent6"/>
                </a:solidFill>
              </a:rPr>
              <a:t>All 4 failures found, median 61 h early, margin ≥ 2.7×</a:t>
            </a:r>
            <a:endParaRPr lang="en-US" sz="20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accent6"/>
                </a:solidFill>
              </a:rPr>
              <a:t>Keys: speed search, all-bearing reference, loudness/rhythm split</a:t>
            </a:r>
            <a:endParaRPr lang="en-US" sz="20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accent6"/>
                </a:solidFill>
              </a:rPr>
              <a:t>Deep learning: AE 0/8 false alarms; simulated-fault CNN 3/4</a:t>
            </a:r>
            <a:endParaRPr lang="en-US" sz="20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accent6"/>
                </a:solidFill>
              </a:rPr>
              <a:t>Part II: predict RUL (Remaining Useful Life) from the alarm</a:t>
            </a:r>
            <a:endParaRPr lang="en-US" sz="2000" dirty="0"/>
          </a:p>
        </p:txBody>
      </p:sp>
      <p:sp>
        <p:nvSpPr>
          <p:cNvPr id="4" name="outer race"/>
          <p:cNvSpPr/>
          <p:nvPr/>
        </p:nvSpPr>
        <p:spPr>
          <a:xfrm>
            <a:off x="7589520" y="1508760"/>
            <a:ext cx="3840480" cy="3840480"/>
          </a:xfrm>
          <a:prstGeom prst="ellipse">
            <a:avLst/>
          </a:prstGeom>
          <a:solidFill>
            <a:srgbClr val="9AB3C8"/>
          </a:solidFill>
          <a:ln w="12700">
            <a:solidFill>
              <a:srgbClr val="9AB3C8"/>
            </a:solidFill>
            <a:prstDash val="solid"/>
          </a:ln>
        </p:spPr>
      </p:sp>
      <p:sp>
        <p:nvSpPr>
          <p:cNvPr id="5" name="outer race bore"/>
          <p:cNvSpPr/>
          <p:nvPr/>
        </p:nvSpPr>
        <p:spPr>
          <a:xfrm>
            <a:off x="7935163" y="1854403"/>
            <a:ext cx="3149194" cy="3149194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6" name="inner race"/>
          <p:cNvSpPr/>
          <p:nvPr/>
        </p:nvSpPr>
        <p:spPr>
          <a:xfrm>
            <a:off x="8549640" y="2468880"/>
            <a:ext cx="1920240" cy="1920240"/>
          </a:xfrm>
          <a:prstGeom prst="ellipse">
            <a:avLst/>
          </a:prstGeom>
          <a:solidFill>
            <a:srgbClr val="9AB3C8"/>
          </a:solidFill>
          <a:ln w="12700">
            <a:solidFill>
              <a:srgbClr val="9AB3C8"/>
            </a:solidFill>
            <a:prstDash val="solid"/>
          </a:ln>
        </p:spPr>
      </p:sp>
      <p:sp>
        <p:nvSpPr>
          <p:cNvPr id="7" name="shaft bore"/>
          <p:cNvSpPr/>
          <p:nvPr/>
        </p:nvSpPr>
        <p:spPr>
          <a:xfrm>
            <a:off x="8895283" y="2814523"/>
            <a:ext cx="1228954" cy="1228954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8" name="rolling element 1"/>
          <p:cNvSpPr/>
          <p:nvPr/>
        </p:nvSpPr>
        <p:spPr>
          <a:xfrm>
            <a:off x="10508285" y="3160166"/>
            <a:ext cx="537667" cy="537667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9" name="rolling element 2"/>
          <p:cNvSpPr/>
          <p:nvPr/>
        </p:nvSpPr>
        <p:spPr>
          <a:xfrm>
            <a:off x="10338491" y="3793846"/>
            <a:ext cx="537667" cy="537667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0" name="rolling element 3"/>
          <p:cNvSpPr/>
          <p:nvPr/>
        </p:nvSpPr>
        <p:spPr>
          <a:xfrm>
            <a:off x="9874606" y="4257731"/>
            <a:ext cx="537667" cy="537667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1" name="rolling element 4"/>
          <p:cNvSpPr/>
          <p:nvPr/>
        </p:nvSpPr>
        <p:spPr>
          <a:xfrm>
            <a:off x="9240926" y="4427525"/>
            <a:ext cx="537667" cy="537667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rolling element 5"/>
          <p:cNvSpPr/>
          <p:nvPr/>
        </p:nvSpPr>
        <p:spPr>
          <a:xfrm>
            <a:off x="8607247" y="4257731"/>
            <a:ext cx="537667" cy="537667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3" name="rolling element 6"/>
          <p:cNvSpPr/>
          <p:nvPr/>
        </p:nvSpPr>
        <p:spPr>
          <a:xfrm>
            <a:off x="8143362" y="3793846"/>
            <a:ext cx="537667" cy="537667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4" name="rolling element 7"/>
          <p:cNvSpPr/>
          <p:nvPr/>
        </p:nvSpPr>
        <p:spPr>
          <a:xfrm>
            <a:off x="7973568" y="3160166"/>
            <a:ext cx="537667" cy="537667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5" name="rolling element 8"/>
          <p:cNvSpPr/>
          <p:nvPr/>
        </p:nvSpPr>
        <p:spPr>
          <a:xfrm>
            <a:off x="8143362" y="2526487"/>
            <a:ext cx="537667" cy="537667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6" name="rolling element 9"/>
          <p:cNvSpPr/>
          <p:nvPr/>
        </p:nvSpPr>
        <p:spPr>
          <a:xfrm>
            <a:off x="8607247" y="2062602"/>
            <a:ext cx="537667" cy="537667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7" name="rolling element 10"/>
          <p:cNvSpPr/>
          <p:nvPr/>
        </p:nvSpPr>
        <p:spPr>
          <a:xfrm>
            <a:off x="9240926" y="1892808"/>
            <a:ext cx="537667" cy="537667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8" name="rolling element 11"/>
          <p:cNvSpPr/>
          <p:nvPr/>
        </p:nvSpPr>
        <p:spPr>
          <a:xfrm>
            <a:off x="9874606" y="2062602"/>
            <a:ext cx="537667" cy="537667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9" name="rolling element 12"/>
          <p:cNvSpPr/>
          <p:nvPr/>
        </p:nvSpPr>
        <p:spPr>
          <a:xfrm>
            <a:off x="10338491" y="2526487"/>
            <a:ext cx="537667" cy="537667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Bearing Diagnostics">
  <a:themeElements>
    <a:clrScheme name="Bearing Diagnostics">
      <a:dk1>
        <a:srgbClr val="1B2430"/>
      </a:dk1>
      <a:lt1>
        <a:srgbClr val="FFFFFF"/>
      </a:lt1>
      <a:dk2>
        <a:srgbClr val="2E4A62"/>
      </a:dk2>
      <a:lt2>
        <a:srgbClr val="EEF2F5"/>
      </a:lt2>
      <a:accent1>
        <a:srgbClr val="E8963A"/>
      </a:accent1>
      <a:accent2>
        <a:srgbClr val="3F7CAC"/>
      </a:accent2>
      <a:accent3>
        <a:srgbClr val="7A8B99"/>
      </a:accent3>
      <a:accent4>
        <a:srgbClr val="4CA37A"/>
      </a:accent4>
      <a:accent5>
        <a:srgbClr val="C8553D"/>
      </a:accent5>
      <a:accent6>
        <a:srgbClr val="9AB3C8"/>
      </a:accent6>
      <a:hlink>
        <a:srgbClr val="3F7CAC"/>
      </a:hlink>
      <a:folHlink>
        <a:srgbClr val="6B5B95"/>
      </a:folHlink>
    </a:clrScheme>
    <a:fontScheme name="Bearing Diagnostic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Finding a Failing Bearing Before It Breaks</dc:title>
  <dc:subject>Part I: fault diagnosis on the NASA/IMS bearing dataset</dc:subject>
  <dc:creator>PptxGenJS</dc:creator>
  <cp:lastModifiedBy>PptxGenJS</cp:lastModifiedBy>
  <cp:revision>1</cp:revision>
  <dcterms:created xsi:type="dcterms:W3CDTF">2026-10-12T04:46:25Z</dcterms:created>
  <dcterms:modified xsi:type="dcterms:W3CDTF">2026-10-12T04:46:25Z</dcterms:modified>
</cp:coreProperties>
</file>