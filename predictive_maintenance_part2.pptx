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4.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70" r:id="rId9"/>
    <p:sldId id="271" r:id="rId10"/>
    <p:sldId id="272" r:id="rId11"/>
    <p:sldId id="273" r:id="rId12"/>
    <p:sldId id="274" r:id="rId13"/>
    <p:sldId id="275" r:id="rId14"/>
    <p:sldId id="276" r:id="rId8"/>
    <p:sldId id="277" r:id="rId7"/>
    <p:sldId id="278" r:id="rId6"/>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roblem" id="{38a29843-4488-561d-8142-3093bf7f32eb}">
          <p14:sldIdLst>
            <p14:sldId id="256"/>
            <p14:sldId id="257"/>
          </p14:sldIdLst>
        </p14:section>
        <p14:section name="Data" id="{8241a055-1125-1c11-0465-a52101250d19}">
          <p14:sldIdLst>
            <p14:sldId id="258"/>
            <p14:sldId id="259"/>
            <p14:sldId id="260"/>
            <p14:sldId id="261"/>
            <p14:sldId id="262"/>
          </p14:sldIdLst>
        </p14:section>
        <p14:section name="Proposed system" id="{c6211fd2-ea10-9651-82f1-153048bb2d95}">
          <p14:sldIdLst>
            <p14:sldId id="263"/>
            <p14:sldId id="264"/>
            <p14:sldId id="265"/>
          </p14:sldIdLst>
        </p14:section>
        <p14:section name="Results" id="{faf76579-c466-8de0-c9e1-4fd3f3854745}">
          <p14:sldIdLst>
            <p14:sldId id="266"/>
            <p14:sldId id="267"/>
            <p14:sldId id="268"/>
          </p14:sldIdLst>
        </p14:section>
        <p14:section name="Conclusion" id="{9d915e5c-90f6-96ae-b6e0-7bea3592578f}">
          <p14:sldIdLst>
            <p14:sldId id="26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6" Type="http://schemas.openxmlformats.org/officeDocument/2006/relationships/slide" Target="slides/slide11.xml"/><Relationship Id="rId7" Type="http://schemas.openxmlformats.org/officeDocument/2006/relationships/slide" Target="slides/slide10.xml"/><Relationship Id="rId8" Type="http://schemas.openxmlformats.org/officeDocument/2006/relationships/slide" Target="slides/slide9.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Physics alarm (peer contrast)</c:v>
                </c:pt>
              </c:strCache>
            </c:strRef>
          </c:tx>
          <c:spPr>
            <a:solidFill>
              <a:srgbClr val="1F8A8A"/>
            </a:solidFill>
          </c:spPr>
          <c:cat>
            <c:strRef>
              <c:f>Sheet1!$A$2:$A$5</c:f>
              <c:strCache>
                <c:ptCount val="4"/>
                <c:pt idx="0">
                  <c:v>Set 1 B3
inner</c:v>
                </c:pt>
                <c:pt idx="1">
                  <c:v>Set 1 B4
roller</c:v>
                </c:pt>
                <c:pt idx="2">
                  <c:v>Set 2 B1
outer</c:v>
                </c:pt>
                <c:pt idx="3">
                  <c:v>Set 3 B3
outer</c:v>
                </c:pt>
              </c:strCache>
            </c:strRef>
          </c:cat>
          <c:val>
            <c:numRef>
              <c:f>Sheet1!$B$2:$B$5</c:f>
              <c:numCache>
                <c:formatCode>General</c:formatCode>
                <c:ptCount val="4"/>
                <c:pt idx="0">
                  <c:v>12</c:v>
                </c:pt>
                <c:pt idx="1">
                  <c:v>97</c:v>
                </c:pt>
                <c:pt idx="2">
                  <c:v>70</c:v>
                </c:pt>
                <c:pt idx="3">
                  <c:v>53</c:v>
                </c:pt>
              </c:numCache>
            </c:numRef>
          </c:val>
        </c:ser>
        <c:ser>
          <c:idx val="1"/>
          <c:order val="1"/>
          <c:tx>
            <c:strRef>
              <c:f>Sheet1!$C$1</c:f>
              <c:strCache>
                <c:ptCount val="1"/>
                <c:pt idx="0">
                  <c:v>AI alarm (autoencoder)</c:v>
                </c:pt>
              </c:strCache>
            </c:strRef>
          </c:tx>
          <c:spPr>
            <a:solidFill>
              <a:srgbClr val="7B4FD6"/>
            </a:solidFill>
          </c:spPr>
          <c:cat>
            <c:strRef>
              <c:f>Sheet1!$A$2:$A$5</c:f>
              <c:strCache>
                <c:ptCount val="4"/>
                <c:pt idx="0">
                  <c:v>Set 1 B3
inner</c:v>
                </c:pt>
                <c:pt idx="1">
                  <c:v>Set 1 B4
roller</c:v>
                </c:pt>
                <c:pt idx="2">
                  <c:v>Set 2 B1
outer</c:v>
                </c:pt>
                <c:pt idx="3">
                  <c:v>Set 3 B3
outer</c:v>
                </c:pt>
              </c:strCache>
            </c:strRef>
          </c:cat>
          <c:val>
            <c:numRef>
              <c:f>Sheet1!$C$2:$C$5</c:f>
              <c:numCache>
                <c:formatCode>General</c:formatCode>
                <c:ptCount val="4"/>
                <c:pt idx="0">
                  <c:v>71</c:v>
                </c:pt>
                <c:pt idx="1">
                  <c:v>119</c:v>
                </c:pt>
                <c:pt idx="2">
                  <c:v>54</c:v>
                </c:pt>
              </c:numCache>
            </c:numRef>
          </c:val>
        </c:ser>
        <c:dLbls>
          <c:numFmt formatCode="0&quot; h&quot;" sourceLinked="0"/>
          <c:txPr>
            <a:bodyPr/>
            <a:lstStyle/>
            <a:p>
              <a:pPr>
                <a:defRPr sz="1400" b="1">
                  <a:solidFill>
                    <a:srgbClr val="12262B"/>
                  </a:solidFill>
                </a:defRPr>
              </a:pPr>
            </a:p>
          </c:txPr>
          <c:dLblPos val="outEnd"/>
          <c:showLegendKey val="0"/>
          <c:showVal val="1"/>
          <c:showCatName val="0"/>
          <c:showSerName val="0"/>
          <c:showPercent val="0"/>
          <c:showBubbleSize val="0"/>
          <c:showLeaderLines val="1"/>
        </c:dLbls>
        <c:gapWidth val="60"/>
        <c:overlap val="-10"/>
        <c:axId val="-2068027336"/>
        <c:axId val="-2113994440"/>
      </c:barChart>
      <c:catAx>
        <c:axId val="-2068027336"/>
        <c:scaling>
          <c:orientation val="minMax"/>
        </c:scaling>
        <c:delete val="0"/>
        <c:axPos val="b"/>
        <c:majorTickMark val="out"/>
        <c:minorTickMark val="none"/>
        <c:tickLblPos val="nextTo"/>
        <c:spPr>
          <a:ln>
            <a:solidFill>
              <a:srgbClr val="B9C4C5"/>
            </a:solidFill>
          </a:ln>
        </c:spPr>
        <c:txPr>
          <a:bodyPr/>
          <a:lstStyle/>
          <a:p>
            <a:pPr>
              <a:defRPr sz="1200">
                <a:solidFill>
                  <a:srgbClr val="5E6E70"/>
                </a:solidFill>
              </a:defRPr>
            </a:pPr>
          </a:p>
        </c:txPr>
        <c:crossAx val="-2113994440"/>
        <c:crosses val="autoZero"/>
        <c:auto val="1"/>
        <c:lblAlgn val="ctr"/>
        <c:lblOffset val="100"/>
        <c:noMultiLvlLbl val="0"/>
      </c:catAx>
      <c:valAx>
        <c:axId val="-2113994440"/>
        <c:scaling>
          <c:max val="144.0"/>
          <c:min val="0.0"/>
        </c:scaling>
        <c:delete val="0"/>
        <c:axPos val="l"/>
        <c:majorGridlines>
          <c:spPr>
            <a:ln w="9525">
              <a:solidFill>
                <a:srgbClr val="E1E8E7"/>
              </a:solidFill>
            </a:ln>
          </c:spPr>
        </c:majorGridlines>
        <c:title>
          <c:tx>
            <c:rich>
              <a:bodyPr/>
              <a:lstStyle/>
              <a:p>
                <a:r>
                  <a:rPr sz="1200" b="0">
                    <a:solidFill>
                      <a:srgbClr val="5E6E70"/>
                    </a:solidFill>
                  </a:rPr>
                  <a:t>Hours of warning before failure</a:t>
                </a:r>
              </a:p>
            </c:rich>
          </c:tx>
          <c:layout/>
          <c:overlay val="0"/>
        </c:title>
        <c:majorTickMark val="out"/>
        <c:minorTickMark val="none"/>
        <c:tickLblPos val="nextTo"/>
        <c:spPr>
          <a:ln>
            <a:solidFill>
              <a:srgbClr val="B9C4C5"/>
            </a:solidFill>
          </a:ln>
        </c:spPr>
        <c:txPr>
          <a:bodyPr/>
          <a:lstStyle/>
          <a:p>
            <a:pPr>
              <a:defRPr sz="1200">
                <a:solidFill>
                  <a:srgbClr val="5E6E70"/>
                </a:solidFill>
              </a:defRPr>
            </a:pPr>
          </a:p>
        </c:txPr>
        <c:crossAx val="-2068027336"/>
        <c:crosses val="autoZero"/>
        <c:majorUnit val="24.0"/>
      </c:valAx>
    </c:plotArea>
    <c:legend>
      <c:legendPos val="t"/>
      <c:overlay val="0"/>
      <c:txPr>
        <a:bodyPr/>
        <a:lstStyle/>
        <a:p>
          <a:pPr>
            <a:defRPr sz="1200"/>
          </a:pPr>
        </a:p>
      </c:txPr>
    </c:legend>
    <c:dispBlanksAs val="gap"/>
  </c:chart>
  <c:txPr>
    <a:bodyPr/>
    <a:lstStyle/>
    <a:p>
      <a:pPr>
        <a:defRPr sz="1200">
          <a:solidFill>
            <a:srgbClr val="5E6E70"/>
          </a:solidFill>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chart>
    <c:plotArea>
      <c:scatterChart>
        <c:scatterStyle val="lineMarker"/>
        <c:varyColors val="0"/>
        <c:ser>
          <c:idx val="0"/>
          <c:order val="0"/>
          <c:tx>
            <c:strRef>
              <c:f>Sheet1!$B$1</c:f>
              <c:strCache>
                <c:ptCount val="1"/>
                <c:pt idx="0">
                  <c:v>Reactive</c:v>
                </c:pt>
              </c:strCache>
            </c:strRef>
          </c:tx>
          <c:spPr>
            <a:ln w="25400">
              <a:solidFill>
                <a:srgbClr val="D64545"/>
              </a:solidFill>
            </a:ln>
          </c:spPr>
          <c:marker>
            <c:symbol val="none"/>
          </c:marker>
          <c:xVal>
            <c:numRef>
              <c:f>Sheet1!$A$2:$A$13</c:f>
              <c:numCache>
                <c:formatCode>General</c:formatCode>
                <c:ptCount val="12"/>
                <c:pt idx="0">
                  <c:v>1.5</c:v>
                </c:pt>
                <c:pt idx="1">
                  <c:v>2.0</c:v>
                </c:pt>
                <c:pt idx="2">
                  <c:v>3.0</c:v>
                </c:pt>
                <c:pt idx="3">
                  <c:v>5.0</c:v>
                </c:pt>
                <c:pt idx="4">
                  <c:v>7.0</c:v>
                </c:pt>
                <c:pt idx="5">
                  <c:v>10.0</c:v>
                </c:pt>
                <c:pt idx="6">
                  <c:v>15.0</c:v>
                </c:pt>
                <c:pt idx="7">
                  <c:v>20.0</c:v>
                </c:pt>
                <c:pt idx="8">
                  <c:v>30.0</c:v>
                </c:pt>
                <c:pt idx="9">
                  <c:v>50.0</c:v>
                </c:pt>
                <c:pt idx="10">
                  <c:v>70.0</c:v>
                </c:pt>
                <c:pt idx="11">
                  <c:v>100.0</c:v>
                </c:pt>
              </c:numCache>
            </c:numRef>
          </c:xVal>
          <c:yVal>
            <c:numRef>
              <c:f>Sheet1!$B$2:$B$13</c:f>
              <c:numCache>
                <c:formatCode>General</c:formatCode>
                <c:ptCount val="12"/>
                <c:pt idx="0">
                  <c:v>0.727</c:v>
                </c:pt>
                <c:pt idx="1">
                  <c:v>0.969</c:v>
                </c:pt>
                <c:pt idx="2">
                  <c:v>1.453</c:v>
                </c:pt>
                <c:pt idx="3">
                  <c:v>2.422</c:v>
                </c:pt>
                <c:pt idx="4">
                  <c:v>3.391</c:v>
                </c:pt>
                <c:pt idx="5">
                  <c:v>4.844</c:v>
                </c:pt>
                <c:pt idx="6">
                  <c:v>7.267</c:v>
                </c:pt>
                <c:pt idx="7">
                  <c:v>9.689</c:v>
                </c:pt>
                <c:pt idx="8">
                  <c:v>14.533</c:v>
                </c:pt>
                <c:pt idx="9">
                  <c:v>24.222</c:v>
                </c:pt>
                <c:pt idx="10">
                  <c:v>33.911</c:v>
                </c:pt>
                <c:pt idx="11">
                  <c:v>48.445</c:v>
                </c:pt>
              </c:numCache>
            </c:numRef>
          </c:yVal>
          <c:smooth val="0"/>
        </c:ser>
        <c:ser>
          <c:idx val="1"/>
          <c:order val="1"/>
          <c:tx>
            <c:strRef>
              <c:f>Sheet1!$B$15</c:f>
              <c:strCache>
                <c:ptCount val="1"/>
                <c:pt idx="0">
                  <c:v>Preventive (hindsight)</c:v>
                </c:pt>
              </c:strCache>
            </c:strRef>
          </c:tx>
          <c:spPr>
            <a:ln w="25400">
              <a:solidFill>
                <a:srgbClr val="8A9A9B"/>
              </a:solidFill>
            </a:ln>
          </c:spPr>
          <c:marker>
            <c:symbol val="none"/>
          </c:marker>
          <c:xVal>
            <c:numRef>
              <c:f>Sheet1!$A$16:$A$27</c:f>
              <c:numCache>
                <c:formatCode>General</c:formatCode>
                <c:ptCount val="12"/>
                <c:pt idx="0">
                  <c:v>1.5</c:v>
                </c:pt>
                <c:pt idx="1">
                  <c:v>2.0</c:v>
                </c:pt>
                <c:pt idx="2">
                  <c:v>3.0</c:v>
                </c:pt>
                <c:pt idx="3">
                  <c:v>5.0</c:v>
                </c:pt>
                <c:pt idx="4">
                  <c:v>7.0</c:v>
                </c:pt>
                <c:pt idx="5">
                  <c:v>10.0</c:v>
                </c:pt>
                <c:pt idx="6">
                  <c:v>15.0</c:v>
                </c:pt>
                <c:pt idx="7">
                  <c:v>20.0</c:v>
                </c:pt>
                <c:pt idx="8">
                  <c:v>30.0</c:v>
                </c:pt>
                <c:pt idx="9">
                  <c:v>50.0</c:v>
                </c:pt>
                <c:pt idx="10">
                  <c:v>70.0</c:v>
                </c:pt>
                <c:pt idx="11">
                  <c:v>100.0</c:v>
                </c:pt>
              </c:numCache>
            </c:numRef>
          </c:xVal>
          <c:yVal>
            <c:numRef>
              <c:f>Sheet1!$B$16:$B$27</c:f>
              <c:numCache>
                <c:formatCode>General</c:formatCode>
                <c:ptCount val="12"/>
                <c:pt idx="0">
                  <c:v>0.727</c:v>
                </c:pt>
                <c:pt idx="1">
                  <c:v>0.969</c:v>
                </c:pt>
                <c:pt idx="2">
                  <c:v>1.453</c:v>
                </c:pt>
                <c:pt idx="3">
                  <c:v>1.794</c:v>
                </c:pt>
                <c:pt idx="4">
                  <c:v>2.07</c:v>
                </c:pt>
                <c:pt idx="5">
                  <c:v>2.484</c:v>
                </c:pt>
                <c:pt idx="6">
                  <c:v>3.174</c:v>
                </c:pt>
                <c:pt idx="7">
                  <c:v>3.864</c:v>
                </c:pt>
                <c:pt idx="8">
                  <c:v>5.244</c:v>
                </c:pt>
                <c:pt idx="9">
                  <c:v>6.25</c:v>
                </c:pt>
                <c:pt idx="10">
                  <c:v>6.25</c:v>
                </c:pt>
                <c:pt idx="11">
                  <c:v>6.25</c:v>
                </c:pt>
              </c:numCache>
            </c:numRef>
          </c:yVal>
          <c:smooth val="0"/>
        </c:ser>
        <c:ser>
          <c:idx val="2"/>
          <c:order val="2"/>
          <c:tx>
            <c:strRef>
              <c:f>Sheet1!$B$29</c:f>
              <c:strCache>
                <c:ptCount val="1"/>
                <c:pt idx="0">
                  <c:v>Physics alarm</c:v>
                </c:pt>
              </c:strCache>
            </c:strRef>
          </c:tx>
          <c:spPr>
            <a:ln w="25400">
              <a:solidFill>
                <a:srgbClr val="1F8A8A"/>
              </a:solidFill>
            </a:ln>
          </c:spPr>
          <c:marker>
            <c:symbol val="none"/>
          </c:marker>
          <c:xVal>
            <c:numRef>
              <c:f>Sheet1!$A$30:$A$41</c:f>
              <c:numCache>
                <c:formatCode>General</c:formatCode>
                <c:ptCount val="12"/>
                <c:pt idx="0">
                  <c:v>1.5</c:v>
                </c:pt>
                <c:pt idx="1">
                  <c:v>2.0</c:v>
                </c:pt>
                <c:pt idx="2">
                  <c:v>3.0</c:v>
                </c:pt>
                <c:pt idx="3">
                  <c:v>5.0</c:v>
                </c:pt>
                <c:pt idx="4">
                  <c:v>7.0</c:v>
                </c:pt>
                <c:pt idx="5">
                  <c:v>10.0</c:v>
                </c:pt>
                <c:pt idx="6">
                  <c:v>15.0</c:v>
                </c:pt>
                <c:pt idx="7">
                  <c:v>20.0</c:v>
                </c:pt>
                <c:pt idx="8">
                  <c:v>30.0</c:v>
                </c:pt>
                <c:pt idx="9">
                  <c:v>50.0</c:v>
                </c:pt>
                <c:pt idx="10">
                  <c:v>70.0</c:v>
                </c:pt>
                <c:pt idx="11">
                  <c:v>100.0</c:v>
                </c:pt>
              </c:numCache>
            </c:numRef>
          </c:xVal>
          <c:yVal>
            <c:numRef>
              <c:f>Sheet1!$B$30:$B$41</c:f>
              <c:numCache>
                <c:formatCode>General</c:formatCode>
                <c:ptCount val="12"/>
                <c:pt idx="0">
                  <c:v>0.878</c:v>
                </c:pt>
                <c:pt idx="1">
                  <c:v>0.945</c:v>
                </c:pt>
                <c:pt idx="2">
                  <c:v>1.08</c:v>
                </c:pt>
                <c:pt idx="3">
                  <c:v>1.35</c:v>
                </c:pt>
                <c:pt idx="4">
                  <c:v>1.62</c:v>
                </c:pt>
                <c:pt idx="5">
                  <c:v>2.025</c:v>
                </c:pt>
                <c:pt idx="6">
                  <c:v>2.701</c:v>
                </c:pt>
                <c:pt idx="7">
                  <c:v>3.376</c:v>
                </c:pt>
                <c:pt idx="8">
                  <c:v>4.726</c:v>
                </c:pt>
                <c:pt idx="9">
                  <c:v>7.427</c:v>
                </c:pt>
                <c:pt idx="10">
                  <c:v>10.127</c:v>
                </c:pt>
                <c:pt idx="11">
                  <c:v>14.178</c:v>
                </c:pt>
              </c:numCache>
            </c:numRef>
          </c:yVal>
          <c:smooth val="0"/>
        </c:ser>
        <c:ser>
          <c:idx val="3"/>
          <c:order val="3"/>
          <c:tx>
            <c:strRef>
              <c:f>Sheet1!$B$43</c:f>
              <c:strCache>
                <c:ptCount val="1"/>
                <c:pt idx="0">
                  <c:v>AI alarm</c:v>
                </c:pt>
              </c:strCache>
            </c:strRef>
          </c:tx>
          <c:spPr>
            <a:ln w="25400">
              <a:solidFill>
                <a:srgbClr val="7B4FD6"/>
              </a:solidFill>
            </a:ln>
          </c:spPr>
          <c:marker>
            <c:symbol val="none"/>
          </c:marker>
          <c:xVal>
            <c:numRef>
              <c:f>Sheet1!$A$44:$A$55</c:f>
              <c:numCache>
                <c:formatCode>General</c:formatCode>
                <c:ptCount val="12"/>
                <c:pt idx="0">
                  <c:v>1.5</c:v>
                </c:pt>
                <c:pt idx="1">
                  <c:v>2.0</c:v>
                </c:pt>
                <c:pt idx="2">
                  <c:v>3.0</c:v>
                </c:pt>
                <c:pt idx="3">
                  <c:v>5.0</c:v>
                </c:pt>
                <c:pt idx="4">
                  <c:v>7.0</c:v>
                </c:pt>
                <c:pt idx="5">
                  <c:v>10.0</c:v>
                </c:pt>
                <c:pt idx="6">
                  <c:v>15.0</c:v>
                </c:pt>
                <c:pt idx="7">
                  <c:v>20.0</c:v>
                </c:pt>
                <c:pt idx="8">
                  <c:v>30.0</c:v>
                </c:pt>
                <c:pt idx="9">
                  <c:v>50.0</c:v>
                </c:pt>
                <c:pt idx="10">
                  <c:v>70.0</c:v>
                </c:pt>
                <c:pt idx="11">
                  <c:v>100.0</c:v>
                </c:pt>
              </c:numCache>
            </c:numRef>
          </c:xVal>
          <c:yVal>
            <c:numRef>
              <c:f>Sheet1!$B$44:$B$55</c:f>
              <c:numCache>
                <c:formatCode>General</c:formatCode>
                <c:ptCount val="12"/>
                <c:pt idx="0">
                  <c:v>0.557</c:v>
                </c:pt>
                <c:pt idx="1">
                  <c:v>0.618</c:v>
                </c:pt>
                <c:pt idx="2">
                  <c:v>0.742</c:v>
                </c:pt>
                <c:pt idx="3">
                  <c:v>0.989</c:v>
                </c:pt>
                <c:pt idx="4">
                  <c:v>1.237</c:v>
                </c:pt>
                <c:pt idx="5">
                  <c:v>1.608</c:v>
                </c:pt>
                <c:pt idx="6">
                  <c:v>2.226</c:v>
                </c:pt>
                <c:pt idx="7">
                  <c:v>2.845</c:v>
                </c:pt>
                <c:pt idx="8">
                  <c:v>4.082</c:v>
                </c:pt>
                <c:pt idx="9">
                  <c:v>6.555</c:v>
                </c:pt>
                <c:pt idx="10">
                  <c:v>9.029</c:v>
                </c:pt>
                <c:pt idx="11">
                  <c:v>12.739</c:v>
                </c:pt>
              </c:numCache>
            </c:numRef>
          </c:yVal>
          <c:smooth val="0"/>
        </c:ser>
        <c:ser>
          <c:idx val="4"/>
          <c:order val="4"/>
          <c:tx>
            <c:strRef>
              <c:f>Sheet1!$B$57</c:f>
              <c:strCache>
                <c:ptCount val="1"/>
                <c:pt idx="0">
                  <c:v>Physics OR AI</c:v>
                </c:pt>
              </c:strCache>
            </c:strRef>
          </c:tx>
          <c:spPr>
            <a:ln w="44450">
              <a:solidFill>
                <a:srgbClr val="F26B4F"/>
              </a:solidFill>
            </a:ln>
          </c:spPr>
          <c:marker>
            <c:symbol val="none"/>
          </c:marker>
          <c:xVal>
            <c:numRef>
              <c:f>Sheet1!$A$58:$A$69</c:f>
              <c:numCache>
                <c:formatCode>General</c:formatCode>
                <c:ptCount val="12"/>
                <c:pt idx="0">
                  <c:v>1.5</c:v>
                </c:pt>
                <c:pt idx="1">
                  <c:v>2.0</c:v>
                </c:pt>
                <c:pt idx="2">
                  <c:v>3.0</c:v>
                </c:pt>
                <c:pt idx="3">
                  <c:v>5.0</c:v>
                </c:pt>
                <c:pt idx="4">
                  <c:v>7.0</c:v>
                </c:pt>
                <c:pt idx="5">
                  <c:v>10.0</c:v>
                </c:pt>
                <c:pt idx="6">
                  <c:v>15.0</c:v>
                </c:pt>
                <c:pt idx="7">
                  <c:v>20.0</c:v>
                </c:pt>
                <c:pt idx="8">
                  <c:v>30.0</c:v>
                </c:pt>
                <c:pt idx="9">
                  <c:v>50.0</c:v>
                </c:pt>
                <c:pt idx="10">
                  <c:v>70.0</c:v>
                </c:pt>
                <c:pt idx="11">
                  <c:v>100.0</c:v>
                </c:pt>
              </c:numCache>
            </c:numRef>
          </c:xVal>
          <c:yVal>
            <c:numRef>
              <c:f>Sheet1!$B$58:$B$69</c:f>
              <c:numCache>
                <c:formatCode>General</c:formatCode>
                <c:ptCount val="12"/>
                <c:pt idx="0">
                  <c:v>0.818</c:v>
                </c:pt>
                <c:pt idx="1">
                  <c:v>0.818</c:v>
                </c:pt>
                <c:pt idx="2">
                  <c:v>0.818</c:v>
                </c:pt>
                <c:pt idx="3">
                  <c:v>0.818</c:v>
                </c:pt>
                <c:pt idx="4">
                  <c:v>0.818</c:v>
                </c:pt>
                <c:pt idx="5">
                  <c:v>0.818</c:v>
                </c:pt>
                <c:pt idx="6">
                  <c:v>0.818</c:v>
                </c:pt>
                <c:pt idx="7">
                  <c:v>0.818</c:v>
                </c:pt>
                <c:pt idx="8">
                  <c:v>0.818</c:v>
                </c:pt>
                <c:pt idx="9">
                  <c:v>0.818</c:v>
                </c:pt>
                <c:pt idx="10">
                  <c:v>0.818</c:v>
                </c:pt>
                <c:pt idx="11">
                  <c:v>0.818</c:v>
                </c:pt>
              </c:numCache>
            </c:numRef>
          </c:yVal>
          <c:smooth val="0"/>
        </c:ser>
        <c:ser>
          <c:idx val="5"/>
          <c:order val="5"/>
          <c:tx>
            <c:strRef>
              <c:f>Sheet1!$B$71</c:f>
              <c:strCache>
                <c:ptCount val="1"/>
                <c:pt idx="0">
                  <c:v>Oracle</c:v>
                </c:pt>
              </c:strCache>
            </c:strRef>
          </c:tx>
          <c:spPr>
            <a:ln w="22225">
              <a:solidFill>
                <a:srgbClr val="12262B"/>
              </a:solidFill>
              <a:prstDash val="dash"/>
            </a:ln>
          </c:spPr>
          <c:marker>
            <c:symbol val="none"/>
          </c:marker>
          <c:xVal>
            <c:numRef>
              <c:f>Sheet1!$A$72:$A$83</c:f>
              <c:numCache>
                <c:formatCode>General</c:formatCode>
                <c:ptCount val="12"/>
                <c:pt idx="0">
                  <c:v>1.5</c:v>
                </c:pt>
                <c:pt idx="1">
                  <c:v>2.0</c:v>
                </c:pt>
                <c:pt idx="2">
                  <c:v>3.0</c:v>
                </c:pt>
                <c:pt idx="3">
                  <c:v>5.0</c:v>
                </c:pt>
                <c:pt idx="4">
                  <c:v>7.0</c:v>
                </c:pt>
                <c:pt idx="5">
                  <c:v>10.0</c:v>
                </c:pt>
                <c:pt idx="6">
                  <c:v>15.0</c:v>
                </c:pt>
                <c:pt idx="7">
                  <c:v>20.0</c:v>
                </c:pt>
                <c:pt idx="8">
                  <c:v>30.0</c:v>
                </c:pt>
                <c:pt idx="9">
                  <c:v>50.0</c:v>
                </c:pt>
                <c:pt idx="10">
                  <c:v>70.0</c:v>
                </c:pt>
                <c:pt idx="11">
                  <c:v>100.0</c:v>
                </c:pt>
              </c:numCache>
            </c:numRef>
          </c:xVal>
          <c:yVal>
            <c:numRef>
              <c:f>Sheet1!$B$72:$B$83</c:f>
              <c:numCache>
                <c:formatCode>General</c:formatCode>
                <c:ptCount val="12"/>
                <c:pt idx="0">
                  <c:v>0.484</c:v>
                </c:pt>
                <c:pt idx="1">
                  <c:v>0.484</c:v>
                </c:pt>
                <c:pt idx="2">
                  <c:v>0.484</c:v>
                </c:pt>
                <c:pt idx="3">
                  <c:v>0.484</c:v>
                </c:pt>
                <c:pt idx="4">
                  <c:v>0.484</c:v>
                </c:pt>
                <c:pt idx="5">
                  <c:v>0.484</c:v>
                </c:pt>
                <c:pt idx="6">
                  <c:v>0.484</c:v>
                </c:pt>
                <c:pt idx="7">
                  <c:v>0.484</c:v>
                </c:pt>
                <c:pt idx="8">
                  <c:v>0.484</c:v>
                </c:pt>
                <c:pt idx="9">
                  <c:v>0.484</c:v>
                </c:pt>
                <c:pt idx="10">
                  <c:v>0.484</c:v>
                </c:pt>
                <c:pt idx="11">
                  <c:v>0.484</c:v>
                </c:pt>
              </c:numCache>
            </c:numRef>
          </c:yVal>
          <c:smooth val="0"/>
        </c:ser>
        <c:axId val="-2128940872"/>
        <c:axId val="-2129643912"/>
      </c:scatterChart>
      <c:valAx>
        <c:axId val="-2128940872"/>
        <c:scaling>
          <c:logBase val="10"/>
          <c:orientation val="minMax"/>
          <c:max val="100.0"/>
          <c:min val="1.0"/>
        </c:scaling>
        <c:delete val="0"/>
        <c:axPos val="b"/>
        <c:title>
          <c:tx>
            <c:rich>
              <a:bodyPr/>
              <a:lstStyle/>
              <a:p>
                <a:r>
                  <a:rPr sz="1200" b="0">
                    <a:solidFill>
                      <a:srgbClr val="5E6E70"/>
                    </a:solidFill>
                  </a:rPr>
                  <a:t>Breakdown cost ÷ planned replacement cost (log scale)</a:t>
                </a:r>
              </a:p>
            </c:rich>
          </c:tx>
          <c:layout/>
          <c:overlay val="0"/>
        </c:title>
        <c:numFmt formatCode="0&quot;×&quot;" sourceLinked="0"/>
        <c:majorTickMark val="out"/>
        <c:minorTickMark val="none"/>
        <c:tickLblPos val="nextTo"/>
        <c:spPr>
          <a:ln>
            <a:solidFill>
              <a:srgbClr val="B9C4C5"/>
            </a:solidFill>
          </a:ln>
        </c:spPr>
        <c:txPr>
          <a:bodyPr/>
          <a:lstStyle/>
          <a:p>
            <a:pPr>
              <a:defRPr sz="1200">
                <a:solidFill>
                  <a:srgbClr val="5E6E70"/>
                </a:solidFill>
              </a:defRPr>
            </a:pPr>
          </a:p>
        </c:txPr>
        <c:crossAx val="-2129643912"/>
        <c:crosses val="min"/>
        <c:crossBetween val="midCat"/>
      </c:valAx>
      <c:valAx>
        <c:axId val="-2129643912"/>
        <c:scaling>
          <c:logBase val="10"/>
          <c:orientation val="minMax"/>
          <c:max val="100.0"/>
          <c:min val="0.1"/>
        </c:scaling>
        <c:delete val="0"/>
        <c:axPos val="l"/>
        <c:majorGridlines>
          <c:spPr>
            <a:ln w="9525">
              <a:solidFill>
                <a:srgbClr val="E1E8E7"/>
              </a:solidFill>
            </a:ln>
          </c:spPr>
        </c:majorGridlines>
        <c:title>
          <c:tx>
            <c:rich>
              <a:bodyPr/>
              <a:lstStyle/>
              <a:p>
                <a:r>
                  <a:rPr sz="1200" b="0">
                    <a:solidFill>
                      <a:srgbClr val="5E6E70"/>
                    </a:solidFill>
                  </a:rPr>
                  <a:t>Cost per 1,000 h (log scale)</a:t>
                </a:r>
              </a:p>
            </c:rich>
          </c:tx>
          <c:layout/>
          <c:overlay val="0"/>
        </c:title>
        <c:numFmt formatCode="General" sourceLinked="0"/>
        <c:majorTickMark val="out"/>
        <c:minorTickMark val="none"/>
        <c:tickLblPos val="nextTo"/>
        <c:spPr>
          <a:ln>
            <a:solidFill>
              <a:srgbClr val="B9C4C5"/>
            </a:solidFill>
          </a:ln>
        </c:spPr>
        <c:txPr>
          <a:bodyPr/>
          <a:lstStyle/>
          <a:p>
            <a:pPr>
              <a:defRPr sz="1200">
                <a:solidFill>
                  <a:srgbClr val="5E6E70"/>
                </a:solidFill>
              </a:defRPr>
            </a:pPr>
          </a:p>
        </c:txPr>
        <c:crossAx val="-2128940872"/>
        <c:crosses val="min"/>
        <c:crossBetween val="midCat"/>
      </c:valAx>
    </c:plotArea>
    <c:legend>
      <c:legendPos val="t"/>
      <c:layout/>
      <c:overlay val="0"/>
      <c:txPr>
        <a:bodyPr/>
        <a:lstStyle/>
        <a:p>
          <a:pPr>
            <a:defRPr sz="1200"/>
          </a:pPr>
        </a:p>
      </c:txPr>
    </c:legend>
    <c:plotVisOnly val="1"/>
    <c:dispBlanksAs val="gap"/>
    <c:showDLblsOverMax val="0"/>
  </c:chart>
  <c:txPr>
    <a:bodyPr/>
    <a:lstStyle/>
    <a:p>
      <a:pPr>
        <a:defRPr sz="1200">
          <a:solidFill>
            <a:srgbClr val="5E6E70"/>
          </a:solidFill>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Physics alarm</c:v>
                </c:pt>
              </c:strCache>
            </c:strRef>
          </c:tx>
          <c:spPr>
            <a:solidFill>
              <a:srgbClr val="1F8A8A"/>
            </a:solidFill>
          </c:spPr>
          <c:cat>
            <c:strRef>
              <c:f>Sheet1!$A$2:$A$7</c:f>
              <c:strCache>
                <c:ptCount val="6"/>
                <c:pt idx="0">
                  <c:v>4 h</c:v>
                </c:pt>
                <c:pt idx="1">
                  <c:v>8 h</c:v>
                </c:pt>
                <c:pt idx="2">
                  <c:v>12 h</c:v>
                </c:pt>
                <c:pt idx="3">
                  <c:v>24 h</c:v>
                </c:pt>
                <c:pt idx="4">
                  <c:v>48 h</c:v>
                </c:pt>
                <c:pt idx="5">
                  <c:v>72 h</c:v>
                </c:pt>
              </c:strCache>
            </c:strRef>
          </c:cat>
          <c:val>
            <c:numRef>
              <c:f>Sheet1!$B$2:$B$7</c:f>
              <c:numCache>
                <c:formatCode>General</c:formatCode>
                <c:ptCount val="6"/>
                <c:pt idx="0">
                  <c:v>4</c:v>
                </c:pt>
                <c:pt idx="1">
                  <c:v>4</c:v>
                </c:pt>
                <c:pt idx="2">
                  <c:v>3</c:v>
                </c:pt>
                <c:pt idx="3">
                  <c:v>3</c:v>
                </c:pt>
                <c:pt idx="4">
                  <c:v>3</c:v>
                </c:pt>
                <c:pt idx="5">
                  <c:v>1</c:v>
                </c:pt>
              </c:numCache>
            </c:numRef>
          </c:val>
        </c:ser>
        <c:ser>
          <c:idx val="1"/>
          <c:order val="1"/>
          <c:tx>
            <c:strRef>
              <c:f>Sheet1!$C$1</c:f>
              <c:strCache>
                <c:ptCount val="1"/>
                <c:pt idx="0">
                  <c:v>AI alarm</c:v>
                </c:pt>
              </c:strCache>
            </c:strRef>
          </c:tx>
          <c:spPr>
            <a:solidFill>
              <a:srgbClr val="7B4FD6"/>
            </a:solidFill>
          </c:spPr>
          <c:cat>
            <c:strRef>
              <c:f>Sheet1!$A$2:$A$7</c:f>
              <c:strCache>
                <c:ptCount val="6"/>
                <c:pt idx="0">
                  <c:v>4 h</c:v>
                </c:pt>
                <c:pt idx="1">
                  <c:v>8 h</c:v>
                </c:pt>
                <c:pt idx="2">
                  <c:v>12 h</c:v>
                </c:pt>
                <c:pt idx="3">
                  <c:v>24 h</c:v>
                </c:pt>
                <c:pt idx="4">
                  <c:v>48 h</c:v>
                </c:pt>
                <c:pt idx="5">
                  <c:v>72 h</c:v>
                </c:pt>
              </c:strCache>
            </c:strRef>
          </c:cat>
          <c:val>
            <c:numRef>
              <c:f>Sheet1!$C$2:$C$7</c:f>
              <c:numCache>
                <c:formatCode>General</c:formatCode>
                <c:ptCount val="6"/>
                <c:pt idx="0">
                  <c:v>3</c:v>
                </c:pt>
                <c:pt idx="1">
                  <c:v>3</c:v>
                </c:pt>
                <c:pt idx="2">
                  <c:v>3</c:v>
                </c:pt>
                <c:pt idx="3">
                  <c:v>3</c:v>
                </c:pt>
                <c:pt idx="4">
                  <c:v>3</c:v>
                </c:pt>
                <c:pt idx="5">
                  <c:v>1</c:v>
                </c:pt>
              </c:numCache>
            </c:numRef>
          </c:val>
        </c:ser>
        <c:ser>
          <c:idx val="2"/>
          <c:order val="2"/>
          <c:tx>
            <c:strRef>
              <c:f>Sheet1!$D$1</c:f>
              <c:strCache>
                <c:ptCount val="1"/>
                <c:pt idx="0">
                  <c:v>Physics OR AI</c:v>
                </c:pt>
              </c:strCache>
            </c:strRef>
          </c:tx>
          <c:spPr>
            <a:solidFill>
              <a:srgbClr val="F26B4F"/>
            </a:solidFill>
          </c:spPr>
          <c:cat>
            <c:strRef>
              <c:f>Sheet1!$A$2:$A$7</c:f>
              <c:strCache>
                <c:ptCount val="6"/>
                <c:pt idx="0">
                  <c:v>4 h</c:v>
                </c:pt>
                <c:pt idx="1">
                  <c:v>8 h</c:v>
                </c:pt>
                <c:pt idx="2">
                  <c:v>12 h</c:v>
                </c:pt>
                <c:pt idx="3">
                  <c:v>24 h</c:v>
                </c:pt>
                <c:pt idx="4">
                  <c:v>48 h</c:v>
                </c:pt>
                <c:pt idx="5">
                  <c:v>72 h</c:v>
                </c:pt>
              </c:strCache>
            </c:strRef>
          </c:cat>
          <c:val>
            <c:numRef>
              <c:f>Sheet1!$D$2:$D$7</c:f>
              <c:numCache>
                <c:formatCode>General</c:formatCode>
                <c:ptCount val="6"/>
                <c:pt idx="0">
                  <c:v>4</c:v>
                </c:pt>
                <c:pt idx="1">
                  <c:v>4</c:v>
                </c:pt>
                <c:pt idx="2">
                  <c:v>4</c:v>
                </c:pt>
                <c:pt idx="3">
                  <c:v>4</c:v>
                </c:pt>
                <c:pt idx="4">
                  <c:v>4</c:v>
                </c:pt>
                <c:pt idx="5">
                  <c:v>1</c:v>
                </c:pt>
              </c:numCache>
            </c:numRef>
          </c:val>
        </c:ser>
        <c:dLbls>
          <c:txPr>
            <a:bodyPr/>
            <a:lstStyle/>
            <a:p>
              <a:pPr>
                <a:defRPr sz="1300" b="1">
                  <a:solidFill>
                    <a:srgbClr val="12262B"/>
                  </a:solidFill>
                </a:defRPr>
              </a:pPr>
            </a:p>
          </c:txPr>
          <c:dLblPos val="outEnd"/>
          <c:showLegendKey val="0"/>
          <c:showVal val="1"/>
          <c:showCatName val="0"/>
          <c:showSerName val="0"/>
          <c:showPercent val="0"/>
          <c:showBubbleSize val="0"/>
          <c:showLeaderLines val="1"/>
        </c:dLbls>
        <c:gapWidth val="50"/>
        <c:overlap val="-5"/>
        <c:axId val="-2068027336"/>
        <c:axId val="-2113994440"/>
      </c:barChart>
      <c:catAx>
        <c:axId val="-2068027336"/>
        <c:scaling>
          <c:orientation val="minMax"/>
        </c:scaling>
        <c:delete val="0"/>
        <c:axPos val="b"/>
        <c:title>
          <c:tx>
            <c:rich>
              <a:bodyPr/>
              <a:lstStyle/>
              <a:p>
                <a:r>
                  <a:rPr sz="1200" b="0">
                    <a:solidFill>
                      <a:srgbClr val="5E6E70"/>
                    </a:solidFill>
                  </a:rPr>
                  <a:t>Lead time: hours from alarm to replacement</a:t>
                </a:r>
              </a:p>
            </c:rich>
          </c:tx>
          <c:layout/>
          <c:overlay val="0"/>
        </c:title>
        <c:majorTickMark val="out"/>
        <c:minorTickMark val="none"/>
        <c:tickLblPos val="nextTo"/>
        <c:spPr>
          <a:ln>
            <a:solidFill>
              <a:srgbClr val="B9C4C5"/>
            </a:solidFill>
          </a:ln>
        </c:spPr>
        <c:txPr>
          <a:bodyPr/>
          <a:lstStyle/>
          <a:p>
            <a:pPr>
              <a:defRPr sz="1200">
                <a:solidFill>
                  <a:srgbClr val="5E6E70"/>
                </a:solidFill>
              </a:defRPr>
            </a:pPr>
          </a:p>
        </c:txPr>
        <c:crossAx val="-2113994440"/>
        <c:crosses val="autoZero"/>
        <c:auto val="1"/>
        <c:lblAlgn val="ctr"/>
        <c:lblOffset val="100"/>
        <c:noMultiLvlLbl val="0"/>
      </c:catAx>
      <c:valAx>
        <c:axId val="-2113994440"/>
        <c:scaling>
          <c:max val="4.5"/>
          <c:min val="0.0"/>
        </c:scaling>
        <c:delete val="0"/>
        <c:axPos val="l"/>
        <c:majorGridlines>
          <c:spPr>
            <a:ln w="9525">
              <a:solidFill>
                <a:srgbClr val="E1E8E7"/>
              </a:solidFill>
            </a:ln>
          </c:spPr>
        </c:majorGridlines>
        <c:title>
          <c:tx>
            <c:rich>
              <a:bodyPr/>
              <a:lstStyle/>
              <a:p>
                <a:r>
                  <a:rPr sz="1200" b="0">
                    <a:solidFill>
                      <a:srgbClr val="5E6E70"/>
                    </a:solidFill>
                  </a:rPr>
                  <a:t>Failures caught (of 4)</a:t>
                </a:r>
              </a:p>
            </c:rich>
          </c:tx>
          <c:layout/>
          <c:overlay val="0"/>
        </c:title>
        <c:numFmt formatCode="0" sourceLinked="0"/>
        <c:majorTickMark val="out"/>
        <c:minorTickMark val="none"/>
        <c:tickLblPos val="nextTo"/>
        <c:spPr>
          <a:ln>
            <a:solidFill>
              <a:srgbClr val="B9C4C5"/>
            </a:solidFill>
          </a:ln>
        </c:spPr>
        <c:txPr>
          <a:bodyPr/>
          <a:lstStyle/>
          <a:p>
            <a:pPr>
              <a:defRPr sz="1200">
                <a:solidFill>
                  <a:srgbClr val="5E6E70"/>
                </a:solidFill>
              </a:defRPr>
            </a:pPr>
          </a:p>
        </c:txPr>
        <c:crossAx val="-2068027336"/>
        <c:crosses val="autoZero"/>
        <c:majorUnit val="1.0"/>
      </c:valAx>
    </c:plotArea>
    <c:legend>
      <c:legendPos val="t"/>
      <c:overlay val="0"/>
      <c:txPr>
        <a:bodyPr/>
        <a:lstStyle/>
        <a:p>
          <a:pPr>
            <a:defRPr sz="1200"/>
          </a:pPr>
        </a:p>
      </c:txPr>
    </c:legend>
    <c:dispBlanksAs val="gap"/>
  </c:chart>
  <c:txPr>
    <a:bodyPr/>
    <a:lstStyle/>
    <a:p>
      <a:pPr>
        <a:defRPr sz="1200">
          <a:solidFill>
            <a:srgbClr val="5E6E70"/>
          </a:solidFill>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Part II builds on our Part I bearing diagnosis. Part I gave us alarms that say a bearing is failing. Part II asks the maintenance manager's question: should we repair after breakdown, replace on a schedule, or act on the alarms, and how much does physics or AI monitoring actually save?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There are three classic strategies. Reactive: run until it breaks. Cheap per repair, but a breakdown stops the line and can damage the shaft. Preventive: replace on a fixed schedule, but bearing lives vary a lot, here from 164 to over 1,000 hours, so you either replace too often or still get breakdowns. Predictive, or condition-based: replace when monitoring raises an alarm. It only works if the alarm is early and reliable. We test all three on the same 12 bearings.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I gave us two condition monitors. The physics alarm compares each bearing's vibration energy with its neighbours. The AI alarm is an autoencoder trained only on healthy data: it flags a bearing whose vibration it cannot reconstruct. Neither uses fault labels. The bars show how many hours before failure each one warns. The AI warns about the inner-race fault 71 hours ahead, where physics gives only 12. Physics catches set 3 bearing 3, which the AI misses completely. And the AI never alarmed on a healthy bearing; physics did twice. We checked that the early AI alarm on set 1 bearing 3 comes mainly from its own impact signal, kurtosis and peaks, not from its failing neighbour bearing 4 heard through the housing. So the two are complementary: use either one's alarm.</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scoring rules. When an alarm fires, the crew needs 24 hours to get parts and schedule the work, then replaces the bearing. If the bearing breaks before that, it counts as a breakdown. An alarm on a healthy bearing is a needless replacement. A planned replacement costs 1 unit; a breakdown costs 10, for downtime, damage and rush parts. We divide total cost by total operating hours, the standard renewal-reward cost rate. Later we vary both the 24 hours and the factor of 10, because they differ between factories.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result at 24 hours lead time and breakdown cost 10. Reactive: four breakdowns, 4.8 per thousand hours. Preventive, even with the best interval chosen in hindsight: one breakdown and five needless replacements. Physics alone or AI alone: three of four caught. Acting on either alarm catches all four with no breakdowns, at 0.82, about a sixth of reactive; the oracle that knows exactly when each bearing fails would cost 0.48.</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 the answer depends on how expensive a breakdown is, on log scales. When a breakdown costs barely more than a planned repair, nothing beats just running to failure, except the AI alarm with its zero false alarms. From about twice the cost, acting on either alarm is cheaper than reactive and preventive, and its cost stays flat because it has no breakdowns. A breakdown that stops a line often costs far more than a planned repair, but the factor depends on the factory. The grey preventive line flattens at the right only because its interval was tuned with hindsight to just before the shortest test ended.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 fast does the crew have to act after the alarm? With up to 8 hours, the physics alarm alone catches all four. Between 12 and 48 hours, physics and AI each catch three, and only their combination catches all four: this is where the AI adds value. At 72 hours everything collapses to one of four, because the alarms come 53 to 119 hours before failure. So acting on either alarm catches all four only if replacement happens within about two days of the alarm. Note this is at our default thresholds; the next slide shows what changes when we move them.</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tested the result against the obvious objections. First, the thresholds were tuned on these same bearings, so we moved all three of them: 27 combinations, 9 distinct outcomes because the AI floor changed nothing. Acting on either alarm catches all four failures in every one, at 0.81 to 1.08 per thousand hours. Physics alone catches all four in only 9 of 27. So the AI alarm is insurance: a factory cannot tune its threshold on failures it has not seen. Second, dropping one test at a time and re-scoring the other two, acting on either alarm always beats reactive and preventive, but the single alarms do not: without set 2 the hindsight-tuned preventive interval beats each of them, and without set 3 the AI alone is cheapest. Third, if a false alarm costs about four times a planned job or more, the AI alone, with no false alarms, is cheapest. So we claim robustness, not a single winner.</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also tried the textbook predictive-maintenance approach: predict the remaining useful life in hours, then act when it is short. Two attempts, both negative, and we think both are findings. First, gradient boosting with a calibrated safety margin. Its margin came out at 17 to 59 hours, as wide as the lead time, so it fires almost right at the alarm: it never catches more failures than simply acting on the alarm, catches fewer with a short lead time, and otherwise saves at most about five hours of bearing life. The reason is in the data: after the alarm, the four bearings lasted 12, 53, 70 and 97 hours, too spread for three training examples. Second, in an exploratory run outside the pipeline, Chronos-2, a large pretrained time-series model: it forecast the vibration levelling off instead of accelerating, and its error was more than twice that of gradient boosting, both scored at forecast points every two hours over the last 100 hours.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be clear about our contribution: Part II builds no new detector; the two alarms come from Part I. What it adds is the decision analysis: a cost model that replays reactive, preventive and condition-based maintenance on real run-to-failure data; the finding that the physics and AI alarms complement each other; the operating envelope, breakdown cost above twice a repair and replacement within two days; and two documented negative results. The limits: only four failures, both detectors' thresholds were set on these same bearings, and the cost numbers are assumptions, which is why we show them as ranges.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Summary. Part I's two alarms, physics and AI, see different failures. Acting on either one catches all four failures with no breakdowns, about six times cheaper than running to failure, as long as a breakdown costs more than twice a planned repair and the crew can replace the bearing within two days. Predicting exact hours left did not work with four failures, and we showed why. Thank you.</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0F4C5C"/>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737360"/>
            <a:ext cx="6766560" cy="182880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3" name="Text 0"/>
          <p:cNvSpPr/>
          <p:nvPr>
            <p:ph idx="101" type="body" hasCustomPrompt="1"/>
          </p:nvPr>
        </p:nvSpPr>
        <p:spPr>
          <a:xfrm>
            <a:off x="731520" y="3840480"/>
            <a:ext cx="6766560" cy="2377440"/>
          </a:xfrm>
          <a:prstGeom prst="rect">
            <a:avLst/>
          </a:prstGeom>
          <a:noFill/>
          <a:ln/>
        </p:spPr>
        <p:txBody>
          <a:bodyPr wrap="square" rtlCol="0"/>
          <a:lstStyle>
            <a:lvl1pPr algn="l" indent="0" marL="0">
              <a:buNone/>
              <a:defRPr lang="en-US" sz="2000" dirty="0">
                <a:solidFill>
                  <a:schemeClr val="accent6"/>
                </a:solidFill>
              </a:defRPr>
            </a:lvl1pPr>
          </a:lstStyle>
          <a:p>
            <a:pPr algn="l"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lstStyle>
            <a:lvl1pPr algn="l" indent="0" marL="0">
              <a:buNone/>
              <a:defRPr lang="en-US" sz="3000" b="1" dirty="0">
                <a:solidFill>
                  <a:schemeClr val="tx2"/>
                </a:solidFill>
              </a:defRPr>
            </a:lvl1pPr>
          </a:lstStyle>
          <a:p>
            <a:pPr algn="l" indent="0" marL="0">
              <a:buNone/>
            </a:pPr>
            <a:endParaRPr lang="en-US" sz="3000" dirty="0"/>
          </a:p>
        </p:txBody>
      </p:sp>
      <p:sp>
        <p:nvSpPr>
          <p:cNvPr id="3" name="Text 0"/>
          <p:cNvSpPr/>
          <p:nvPr/>
        </p:nvSpPr>
        <p:spPr>
          <a:xfrm>
            <a:off x="548640" y="6400800"/>
            <a:ext cx="6400800" cy="274320"/>
          </a:xfrm>
          <a:prstGeom prst="rect">
            <a:avLst/>
          </a:prstGeom>
          <a:noFill/>
          <a:ln/>
        </p:spPr>
        <p:txBody>
          <a:bodyPr wrap="square" lIns="0" tIns="0" rIns="0" bIns="0" rtlCol="0" anchor="ctr"/>
          <a:lstStyle/>
          <a:p>
            <a:pPr indent="0" marL="0">
              <a:buNone/>
            </a:pPr>
            <a:r>
              <a:rPr lang="en-US" sz="1000" dirty="0">
                <a:solidFill>
                  <a:schemeClr val="accent3"/>
                </a:solidFill>
              </a:rPr>
              <a:t>Part II · Predictive maintenance · NASA/IMS bearing dataset</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A9B"/>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A9B"/>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chart" Target="../charts/char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chart" Target="../charts/char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chart" Target="../charts/char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737360"/>
            <a:ext cx="6766560" cy="1828800"/>
          </a:xfrm>
          <a:prstGeom prst="rect">
            <a:avLst/>
          </a:prstGeom>
          <a:noFill/>
          <a:ln/>
        </p:spPr>
        <p:txBody>
          <a:bodyPr wrap="square" lIns="0" tIns="0" rIns="0" bIns="0" rtlCol="0" anchor="b"/>
          <a:lstStyle/>
          <a:p>
            <a:pPr algn="l" indent="0" marL="0">
              <a:buNone/>
            </a:pPr>
            <a:r>
              <a:rPr lang="en-US" sz="4000" b="1" dirty="0">
                <a:solidFill>
                  <a:schemeClr val="bg1"/>
                </a:solidFill>
              </a:rPr>
              <a:t>Choosing a Maintenance Strategy for Bearings</a:t>
            </a:r>
            <a:endParaRPr lang="en-US" sz="4000" dirty="0"/>
          </a:p>
        </p:txBody>
      </p:sp>
      <p:sp>
        <p:nvSpPr>
          <p:cNvPr id="3" name="Text 0"/>
          <p:cNvSpPr/>
          <p:nvPr>
            <p:ph idx="101" type="body" hasCustomPrompt="1"/>
          </p:nvPr>
        </p:nvSpPr>
        <p:spPr>
          <a:xfrm>
            <a:off x="731520" y="3840480"/>
            <a:ext cx="6766560" cy="2377440"/>
          </a:xfrm>
          <a:prstGeom prst="rect">
            <a:avLst/>
          </a:prstGeom>
          <a:noFill/>
          <a:ln/>
        </p:spPr>
        <p:txBody>
          <a:bodyPr wrap="square" lIns="0" tIns="0" rIns="0" bIns="0" rtlCol="0" anchor="t"/>
          <a:lstStyle/>
          <a:p>
            <a:pPr algn="l" indent="0" marL="0">
              <a:buNone/>
            </a:pPr>
            <a:r>
              <a:rPr lang="en-US" sz="2000" dirty="0">
                <a:solidFill>
                  <a:schemeClr val="accent6"/>
                </a:solidFill>
              </a:rPr>
              <a:t>Part II · Predictive maintenance with AI</a:t>
            </a:r>
            <a:endParaRPr lang="en-US" sz="2000" dirty="0"/>
          </a:p>
          <a:p>
            <a:pPr algn="l" indent="0" marL="0">
              <a:buNone/>
            </a:pPr>
            <a:r>
              <a:rPr lang="en-US" sz="2000" dirty="0">
                <a:solidFill>
                  <a:schemeClr val="accent6"/>
                </a:solidFill>
              </a:rPr>
              <a:t>NASA/IMS run-to-failure bearing dataset</a:t>
            </a:r>
            <a:endParaRPr lang="en-US" sz="2000" dirty="0"/>
          </a:p>
        </p:txBody>
      </p:sp>
      <p:sp>
        <p:nvSpPr>
          <p:cNvPr id="4" name="outer race"/>
          <p:cNvSpPr/>
          <p:nvPr/>
        </p:nvSpPr>
        <p:spPr>
          <a:xfrm>
            <a:off x="7589520" y="1508760"/>
            <a:ext cx="3840480" cy="3840480"/>
          </a:xfrm>
          <a:prstGeom prst="ellipse">
            <a:avLst/>
          </a:prstGeom>
          <a:solidFill>
            <a:srgbClr val="9CC9C4"/>
          </a:solidFill>
          <a:ln w="12700">
            <a:solidFill>
              <a:srgbClr val="9CC9C4"/>
            </a:solidFill>
            <a:prstDash val="solid"/>
          </a:ln>
        </p:spPr>
      </p:sp>
      <p:sp>
        <p:nvSpPr>
          <p:cNvPr id="5" name="outer race bore"/>
          <p:cNvSpPr/>
          <p:nvPr/>
        </p:nvSpPr>
        <p:spPr>
          <a:xfrm>
            <a:off x="7935163" y="1854403"/>
            <a:ext cx="3149194" cy="3149194"/>
          </a:xfrm>
          <a:prstGeom prst="ellipse">
            <a:avLst/>
          </a:prstGeom>
          <a:solidFill>
            <a:srgbClr val="0F4C5C"/>
          </a:solidFill>
          <a:ln w="12700">
            <a:solidFill>
              <a:srgbClr val="0F4C5C"/>
            </a:solidFill>
            <a:prstDash val="solid"/>
          </a:ln>
        </p:spPr>
      </p:sp>
      <p:sp>
        <p:nvSpPr>
          <p:cNvPr id="6" name="inner race"/>
          <p:cNvSpPr/>
          <p:nvPr/>
        </p:nvSpPr>
        <p:spPr>
          <a:xfrm>
            <a:off x="8549640" y="2468880"/>
            <a:ext cx="1920240" cy="1920240"/>
          </a:xfrm>
          <a:prstGeom prst="ellipse">
            <a:avLst/>
          </a:prstGeom>
          <a:solidFill>
            <a:srgbClr val="9CC9C4"/>
          </a:solidFill>
          <a:ln w="12700">
            <a:solidFill>
              <a:srgbClr val="9CC9C4"/>
            </a:solidFill>
            <a:prstDash val="solid"/>
          </a:ln>
        </p:spPr>
      </p:sp>
      <p:sp>
        <p:nvSpPr>
          <p:cNvPr id="7" name="shaft bore"/>
          <p:cNvSpPr/>
          <p:nvPr/>
        </p:nvSpPr>
        <p:spPr>
          <a:xfrm>
            <a:off x="8895283" y="2814523"/>
            <a:ext cx="1228954" cy="1228954"/>
          </a:xfrm>
          <a:prstGeom prst="ellipse">
            <a:avLst/>
          </a:prstGeom>
          <a:solidFill>
            <a:srgbClr val="0F4C5C"/>
          </a:solidFill>
          <a:ln w="12700">
            <a:solidFill>
              <a:srgbClr val="0F4C5C"/>
            </a:solidFill>
            <a:prstDash val="solid"/>
          </a:ln>
        </p:spPr>
      </p:sp>
      <p:sp>
        <p:nvSpPr>
          <p:cNvPr id="8" name="rolling element 1"/>
          <p:cNvSpPr/>
          <p:nvPr/>
        </p:nvSpPr>
        <p:spPr>
          <a:xfrm>
            <a:off x="10508285" y="3160166"/>
            <a:ext cx="537667" cy="537667"/>
          </a:xfrm>
          <a:prstGeom prst="ellipse">
            <a:avLst/>
          </a:prstGeom>
          <a:solidFill>
            <a:srgbClr val="F26B4F"/>
          </a:solidFill>
          <a:ln w="12700">
            <a:solidFill>
              <a:srgbClr val="F26B4F"/>
            </a:solidFill>
            <a:prstDash val="solid"/>
          </a:ln>
        </p:spPr>
      </p:sp>
      <p:sp>
        <p:nvSpPr>
          <p:cNvPr id="9" name="rolling element 2"/>
          <p:cNvSpPr/>
          <p:nvPr/>
        </p:nvSpPr>
        <p:spPr>
          <a:xfrm>
            <a:off x="10338491" y="3793846"/>
            <a:ext cx="537667" cy="537667"/>
          </a:xfrm>
          <a:prstGeom prst="ellipse">
            <a:avLst/>
          </a:prstGeom>
          <a:solidFill>
            <a:srgbClr val="F26B4F"/>
          </a:solidFill>
          <a:ln w="12700">
            <a:solidFill>
              <a:srgbClr val="F26B4F"/>
            </a:solidFill>
            <a:prstDash val="solid"/>
          </a:ln>
        </p:spPr>
      </p:sp>
      <p:sp>
        <p:nvSpPr>
          <p:cNvPr id="10" name="rolling element 3"/>
          <p:cNvSpPr/>
          <p:nvPr/>
        </p:nvSpPr>
        <p:spPr>
          <a:xfrm>
            <a:off x="9874606" y="4257731"/>
            <a:ext cx="537667" cy="537667"/>
          </a:xfrm>
          <a:prstGeom prst="ellipse">
            <a:avLst/>
          </a:prstGeom>
          <a:solidFill>
            <a:srgbClr val="F26B4F"/>
          </a:solidFill>
          <a:ln w="12700">
            <a:solidFill>
              <a:srgbClr val="F26B4F"/>
            </a:solidFill>
            <a:prstDash val="solid"/>
          </a:ln>
        </p:spPr>
      </p:sp>
      <p:sp>
        <p:nvSpPr>
          <p:cNvPr id="11" name="rolling element 4"/>
          <p:cNvSpPr/>
          <p:nvPr/>
        </p:nvSpPr>
        <p:spPr>
          <a:xfrm>
            <a:off x="9240926" y="4427525"/>
            <a:ext cx="537667" cy="537667"/>
          </a:xfrm>
          <a:prstGeom prst="ellipse">
            <a:avLst/>
          </a:prstGeom>
          <a:solidFill>
            <a:srgbClr val="F26B4F"/>
          </a:solidFill>
          <a:ln w="12700">
            <a:solidFill>
              <a:srgbClr val="F26B4F"/>
            </a:solidFill>
            <a:prstDash val="solid"/>
          </a:ln>
        </p:spPr>
      </p:sp>
      <p:sp>
        <p:nvSpPr>
          <p:cNvPr id="12" name="rolling element 5"/>
          <p:cNvSpPr/>
          <p:nvPr/>
        </p:nvSpPr>
        <p:spPr>
          <a:xfrm>
            <a:off x="8607247" y="4257731"/>
            <a:ext cx="537667" cy="537667"/>
          </a:xfrm>
          <a:prstGeom prst="ellipse">
            <a:avLst/>
          </a:prstGeom>
          <a:solidFill>
            <a:srgbClr val="F26B4F"/>
          </a:solidFill>
          <a:ln w="12700">
            <a:solidFill>
              <a:srgbClr val="F26B4F"/>
            </a:solidFill>
            <a:prstDash val="solid"/>
          </a:ln>
        </p:spPr>
      </p:sp>
      <p:sp>
        <p:nvSpPr>
          <p:cNvPr id="13" name="rolling element 6"/>
          <p:cNvSpPr/>
          <p:nvPr/>
        </p:nvSpPr>
        <p:spPr>
          <a:xfrm>
            <a:off x="8143362" y="3793846"/>
            <a:ext cx="537667" cy="537667"/>
          </a:xfrm>
          <a:prstGeom prst="ellipse">
            <a:avLst/>
          </a:prstGeom>
          <a:solidFill>
            <a:srgbClr val="F26B4F"/>
          </a:solidFill>
          <a:ln w="12700">
            <a:solidFill>
              <a:srgbClr val="F26B4F"/>
            </a:solidFill>
            <a:prstDash val="solid"/>
          </a:ln>
        </p:spPr>
      </p:sp>
      <p:sp>
        <p:nvSpPr>
          <p:cNvPr id="14" name="rolling element 7"/>
          <p:cNvSpPr/>
          <p:nvPr/>
        </p:nvSpPr>
        <p:spPr>
          <a:xfrm>
            <a:off x="7973568" y="3160166"/>
            <a:ext cx="537667" cy="537667"/>
          </a:xfrm>
          <a:prstGeom prst="ellipse">
            <a:avLst/>
          </a:prstGeom>
          <a:solidFill>
            <a:srgbClr val="F26B4F"/>
          </a:solidFill>
          <a:ln w="12700">
            <a:solidFill>
              <a:srgbClr val="F26B4F"/>
            </a:solidFill>
            <a:prstDash val="solid"/>
          </a:ln>
        </p:spPr>
      </p:sp>
      <p:sp>
        <p:nvSpPr>
          <p:cNvPr id="15" name="rolling element 8"/>
          <p:cNvSpPr/>
          <p:nvPr/>
        </p:nvSpPr>
        <p:spPr>
          <a:xfrm>
            <a:off x="8143362" y="2526487"/>
            <a:ext cx="537667" cy="537667"/>
          </a:xfrm>
          <a:prstGeom prst="ellipse">
            <a:avLst/>
          </a:prstGeom>
          <a:solidFill>
            <a:srgbClr val="F26B4F"/>
          </a:solidFill>
          <a:ln w="12700">
            <a:solidFill>
              <a:srgbClr val="F26B4F"/>
            </a:solidFill>
            <a:prstDash val="solid"/>
          </a:ln>
        </p:spPr>
      </p:sp>
      <p:sp>
        <p:nvSpPr>
          <p:cNvPr id="16" name="rolling element 9"/>
          <p:cNvSpPr/>
          <p:nvPr/>
        </p:nvSpPr>
        <p:spPr>
          <a:xfrm>
            <a:off x="8607247" y="2062602"/>
            <a:ext cx="537667" cy="537667"/>
          </a:xfrm>
          <a:prstGeom prst="ellipse">
            <a:avLst/>
          </a:prstGeom>
          <a:solidFill>
            <a:srgbClr val="F26B4F"/>
          </a:solidFill>
          <a:ln w="12700">
            <a:solidFill>
              <a:srgbClr val="F26B4F"/>
            </a:solidFill>
            <a:prstDash val="solid"/>
          </a:ln>
        </p:spPr>
      </p:sp>
      <p:sp>
        <p:nvSpPr>
          <p:cNvPr id="17" name="rolling element 10"/>
          <p:cNvSpPr/>
          <p:nvPr/>
        </p:nvSpPr>
        <p:spPr>
          <a:xfrm>
            <a:off x="9240926" y="1892808"/>
            <a:ext cx="537667" cy="537667"/>
          </a:xfrm>
          <a:prstGeom prst="ellipse">
            <a:avLst/>
          </a:prstGeom>
          <a:solidFill>
            <a:srgbClr val="F26B4F"/>
          </a:solidFill>
          <a:ln w="12700">
            <a:solidFill>
              <a:srgbClr val="F26B4F"/>
            </a:solidFill>
            <a:prstDash val="solid"/>
          </a:ln>
        </p:spPr>
      </p:sp>
      <p:sp>
        <p:nvSpPr>
          <p:cNvPr id="18" name="rolling element 11"/>
          <p:cNvSpPr/>
          <p:nvPr/>
        </p:nvSpPr>
        <p:spPr>
          <a:xfrm>
            <a:off x="9874606" y="2062602"/>
            <a:ext cx="537667" cy="537667"/>
          </a:xfrm>
          <a:prstGeom prst="ellipse">
            <a:avLst/>
          </a:prstGeom>
          <a:solidFill>
            <a:srgbClr val="F26B4F"/>
          </a:solidFill>
          <a:ln w="12700">
            <a:solidFill>
              <a:srgbClr val="F26B4F"/>
            </a:solidFill>
            <a:prstDash val="solid"/>
          </a:ln>
        </p:spPr>
      </p:sp>
      <p:sp>
        <p:nvSpPr>
          <p:cNvPr id="19" name="rolling element 12"/>
          <p:cNvSpPr/>
          <p:nvPr/>
        </p:nvSpPr>
        <p:spPr>
          <a:xfrm>
            <a:off x="10338491" y="2526487"/>
            <a:ext cx="537667" cy="537667"/>
          </a:xfrm>
          <a:prstGeom prst="ellipse">
            <a:avLst/>
          </a:prstGeom>
          <a:solidFill>
            <a:srgbClr val="F26B4F"/>
          </a:solidFill>
          <a:ln w="12700">
            <a:solidFill>
              <a:srgbClr val="F26B4F"/>
            </a:solidFill>
            <a:prstDash val="solid"/>
          </a:ln>
        </p:spPr>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r>
              <a:t>The question: when should a factory replace a bearing?</a:t>
            </a:r>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A9B"/>
                </a:solidFill>
              </a:defRPr>
            </a:lvl1pPr>
          </a:lstStyle>
          <a:p>
            <a:pPr algn="r"/>
            <a:fld id="{F7021451-1387-4CA6-816F-3879F97B5CBC}" type="slidenum">
              <a:rPr b="0" lang="en-US"/>
              <a:t>2</a:t>
            </a:fld>
            <a:endParaRPr lang="en-US"/>
          </a:p>
        </p:txBody>
      </p:sp>
      <p:sp>
        <p:nvSpPr>
          <p:cNvPr id="26" name="TextBox 25"/>
          <p:cNvSpPr txBox="1"/>
          <p:nvPr/>
        </p:nvSpPr>
        <p:spPr>
          <a:xfrm>
            <a:off x="548640" y="1325880"/>
            <a:ext cx="11064240" cy="731520"/>
          </a:xfrm>
          <a:prstGeom prst="rect">
            <a:avLst/>
          </a:prstGeom>
          <a:noFill/>
        </p:spPr>
        <p:txBody>
          <a:bodyPr wrap="square" anchor="t" lIns="0" rIns="0" tIns="0" bIns="0">
            <a:spAutoFit/>
          </a:bodyPr>
          <a:lstStyle/>
          <a:p>
            <a:pPr algn="l">
              <a:spcAft>
                <a:spcPts val="600"/>
              </a:spcAft>
            </a:pPr>
            <a:r>
              <a:rPr sz="1800" b="0">
                <a:solidFill>
                  <a:srgbClr val="12262B"/>
                </a:solidFill>
              </a:rPr>
              <a:t>We replay each strategy on the same 12 bearings (4 failed, 8 healthy) and count breakdowns, needless replacements and cost.</a:t>
            </a:r>
          </a:p>
        </p:txBody>
      </p:sp>
      <p:sp>
        <p:nvSpPr>
          <p:cNvPr id="27" name="strategy card Reactive"/>
          <p:cNvSpPr/>
          <p:nvPr/>
        </p:nvSpPr>
        <p:spPr>
          <a:xfrm>
            <a:off x="548640" y="2377440"/>
            <a:ext cx="3520440" cy="3291840"/>
          </a:xfrm>
          <a:prstGeom prst="roundRect">
            <a:avLst>
              <a:gd name="adj" fmla="val 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badge 1"/>
          <p:cNvSpPr/>
          <p:nvPr/>
        </p:nvSpPr>
        <p:spPr>
          <a:xfrm>
            <a:off x="1847088" y="2697480"/>
            <a:ext cx="914400" cy="914400"/>
          </a:xfrm>
          <a:prstGeom prst="ellipse">
            <a:avLst/>
          </a:prstGeom>
          <a:solidFill>
            <a:srgbClr val="D6454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rPr>
              <a:t>1</a:t>
            </a:r>
          </a:p>
        </p:txBody>
      </p:sp>
      <p:sp>
        <p:nvSpPr>
          <p:cNvPr id="29" name="TextBox 28"/>
          <p:cNvSpPr txBox="1"/>
          <p:nvPr/>
        </p:nvSpPr>
        <p:spPr>
          <a:xfrm>
            <a:off x="822959" y="3794760"/>
            <a:ext cx="2971800" cy="548640"/>
          </a:xfrm>
          <a:prstGeom prst="rect">
            <a:avLst/>
          </a:prstGeom>
          <a:noFill/>
        </p:spPr>
        <p:txBody>
          <a:bodyPr wrap="square" anchor="t" lIns="0" rIns="0" tIns="0" bIns="0">
            <a:spAutoFit/>
          </a:bodyPr>
          <a:lstStyle/>
          <a:p>
            <a:pPr algn="l">
              <a:spcAft>
                <a:spcPts val="600"/>
              </a:spcAft>
            </a:pPr>
            <a:r>
              <a:rPr sz="2600" b="1">
                <a:solidFill>
                  <a:srgbClr val="12262B"/>
                </a:solidFill>
              </a:rPr>
              <a:t>Reactive</a:t>
            </a:r>
          </a:p>
        </p:txBody>
      </p:sp>
      <p:sp>
        <p:nvSpPr>
          <p:cNvPr id="30" name="TextBox 29"/>
          <p:cNvSpPr txBox="1"/>
          <p:nvPr/>
        </p:nvSpPr>
        <p:spPr>
          <a:xfrm>
            <a:off x="822959" y="4389120"/>
            <a:ext cx="2971800" cy="640080"/>
          </a:xfrm>
          <a:prstGeom prst="rect">
            <a:avLst/>
          </a:prstGeom>
          <a:noFill/>
        </p:spPr>
        <p:txBody>
          <a:bodyPr wrap="square" anchor="t" lIns="0" rIns="0" tIns="0" bIns="0">
            <a:spAutoFit/>
          </a:bodyPr>
          <a:lstStyle/>
          <a:p>
            <a:pPr algn="l">
              <a:spcAft>
                <a:spcPts val="600"/>
              </a:spcAft>
            </a:pPr>
            <a:r>
              <a:rPr sz="1600" b="0">
                <a:solidFill>
                  <a:srgbClr val="12262B"/>
                </a:solidFill>
              </a:rPr>
              <a:t>Run until it breaks, then repair</a:t>
            </a:r>
          </a:p>
        </p:txBody>
      </p:sp>
      <p:sp>
        <p:nvSpPr>
          <p:cNvPr id="31" name="TextBox 30"/>
          <p:cNvSpPr txBox="1"/>
          <p:nvPr/>
        </p:nvSpPr>
        <p:spPr>
          <a:xfrm>
            <a:off x="822959" y="5029200"/>
            <a:ext cx="2971800" cy="548640"/>
          </a:xfrm>
          <a:prstGeom prst="rect">
            <a:avLst/>
          </a:prstGeom>
          <a:noFill/>
        </p:spPr>
        <p:txBody>
          <a:bodyPr wrap="square" anchor="t" lIns="0" rIns="0" tIns="0" bIns="0">
            <a:spAutoFit/>
          </a:bodyPr>
          <a:lstStyle/>
          <a:p>
            <a:pPr algn="l">
              <a:spcAft>
                <a:spcPts val="600"/>
              </a:spcAft>
            </a:pPr>
            <a:r>
              <a:rPr sz="1400" b="0">
                <a:solidFill>
                  <a:srgbClr val="5E6E70"/>
                </a:solidFill>
              </a:rPr>
              <a:t>Breakdowns stop the line</a:t>
            </a:r>
          </a:p>
        </p:txBody>
      </p:sp>
      <p:sp>
        <p:nvSpPr>
          <p:cNvPr id="32" name="strategy card Preventive"/>
          <p:cNvSpPr/>
          <p:nvPr/>
        </p:nvSpPr>
        <p:spPr>
          <a:xfrm>
            <a:off x="4343400" y="2377440"/>
            <a:ext cx="3520440" cy="3291840"/>
          </a:xfrm>
          <a:prstGeom prst="roundRect">
            <a:avLst>
              <a:gd name="adj" fmla="val 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badge 2"/>
          <p:cNvSpPr/>
          <p:nvPr/>
        </p:nvSpPr>
        <p:spPr>
          <a:xfrm>
            <a:off x="5641848" y="2697480"/>
            <a:ext cx="914400" cy="914400"/>
          </a:xfrm>
          <a:prstGeom prst="ellipse">
            <a:avLst/>
          </a:prstGeom>
          <a:solidFill>
            <a:srgbClr val="8A9A9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rPr>
              <a:t>2</a:t>
            </a:r>
          </a:p>
        </p:txBody>
      </p:sp>
      <p:sp>
        <p:nvSpPr>
          <p:cNvPr id="34" name="TextBox 33"/>
          <p:cNvSpPr txBox="1"/>
          <p:nvPr/>
        </p:nvSpPr>
        <p:spPr>
          <a:xfrm>
            <a:off x="4617720" y="3794760"/>
            <a:ext cx="2971800" cy="548640"/>
          </a:xfrm>
          <a:prstGeom prst="rect">
            <a:avLst/>
          </a:prstGeom>
          <a:noFill/>
        </p:spPr>
        <p:txBody>
          <a:bodyPr wrap="square" anchor="t" lIns="0" rIns="0" tIns="0" bIns="0">
            <a:spAutoFit/>
          </a:bodyPr>
          <a:lstStyle/>
          <a:p>
            <a:pPr algn="l">
              <a:spcAft>
                <a:spcPts val="600"/>
              </a:spcAft>
            </a:pPr>
            <a:r>
              <a:rPr sz="2600" b="1">
                <a:solidFill>
                  <a:srgbClr val="12262B"/>
                </a:solidFill>
              </a:rPr>
              <a:t>Preventive</a:t>
            </a:r>
          </a:p>
        </p:txBody>
      </p:sp>
      <p:sp>
        <p:nvSpPr>
          <p:cNvPr id="35" name="TextBox 34"/>
          <p:cNvSpPr txBox="1"/>
          <p:nvPr/>
        </p:nvSpPr>
        <p:spPr>
          <a:xfrm>
            <a:off x="4617720" y="4389120"/>
            <a:ext cx="2971800" cy="640080"/>
          </a:xfrm>
          <a:prstGeom prst="rect">
            <a:avLst/>
          </a:prstGeom>
          <a:noFill/>
        </p:spPr>
        <p:txBody>
          <a:bodyPr wrap="square" anchor="t" lIns="0" rIns="0" tIns="0" bIns="0">
            <a:spAutoFit/>
          </a:bodyPr>
          <a:lstStyle/>
          <a:p>
            <a:pPr algn="l">
              <a:spcAft>
                <a:spcPts val="600"/>
              </a:spcAft>
            </a:pPr>
            <a:r>
              <a:rPr sz="1600" b="0">
                <a:solidFill>
                  <a:srgbClr val="12262B"/>
                </a:solidFill>
              </a:rPr>
              <a:t>Replace every T hours on a schedule</a:t>
            </a:r>
          </a:p>
        </p:txBody>
      </p:sp>
      <p:sp>
        <p:nvSpPr>
          <p:cNvPr id="36" name="TextBox 35"/>
          <p:cNvSpPr txBox="1"/>
          <p:nvPr/>
        </p:nvSpPr>
        <p:spPr>
          <a:xfrm>
            <a:off x="4617720" y="5029200"/>
            <a:ext cx="2971800" cy="548640"/>
          </a:xfrm>
          <a:prstGeom prst="rect">
            <a:avLst/>
          </a:prstGeom>
          <a:noFill/>
        </p:spPr>
        <p:txBody>
          <a:bodyPr wrap="square" anchor="t" lIns="0" rIns="0" tIns="0" bIns="0">
            <a:spAutoFit/>
          </a:bodyPr>
          <a:lstStyle/>
          <a:p>
            <a:pPr algn="l">
              <a:spcAft>
                <a:spcPts val="600"/>
              </a:spcAft>
            </a:pPr>
            <a:r>
              <a:rPr sz="1400" b="0">
                <a:solidFill>
                  <a:srgbClr val="5E6E70"/>
                </a:solidFill>
              </a:rPr>
              <a:t>Lives vary 164-1,073 h: waste or breakdowns</a:t>
            </a:r>
          </a:p>
        </p:txBody>
      </p:sp>
      <p:sp>
        <p:nvSpPr>
          <p:cNvPr id="37" name="strategy card Predictive"/>
          <p:cNvSpPr/>
          <p:nvPr/>
        </p:nvSpPr>
        <p:spPr>
          <a:xfrm>
            <a:off x="8138160" y="2377440"/>
            <a:ext cx="3520440" cy="3291840"/>
          </a:xfrm>
          <a:prstGeom prst="roundRect">
            <a:avLst>
              <a:gd name="adj" fmla="val 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badge 3"/>
          <p:cNvSpPr/>
          <p:nvPr/>
        </p:nvSpPr>
        <p:spPr>
          <a:xfrm>
            <a:off x="9436608" y="2697480"/>
            <a:ext cx="914400" cy="914400"/>
          </a:xfrm>
          <a:prstGeom prst="ellipse">
            <a:avLst/>
          </a:prstGeom>
          <a:solidFill>
            <a:srgbClr val="F26B4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rPr>
              <a:t>3</a:t>
            </a:r>
          </a:p>
        </p:txBody>
      </p:sp>
      <p:sp>
        <p:nvSpPr>
          <p:cNvPr id="39" name="TextBox 38"/>
          <p:cNvSpPr txBox="1"/>
          <p:nvPr/>
        </p:nvSpPr>
        <p:spPr>
          <a:xfrm>
            <a:off x="8412480" y="3794760"/>
            <a:ext cx="2971800" cy="548640"/>
          </a:xfrm>
          <a:prstGeom prst="rect">
            <a:avLst/>
          </a:prstGeom>
          <a:noFill/>
        </p:spPr>
        <p:txBody>
          <a:bodyPr wrap="square" anchor="t" lIns="0" rIns="0" tIns="0" bIns="0">
            <a:spAutoFit/>
          </a:bodyPr>
          <a:lstStyle/>
          <a:p>
            <a:pPr algn="l">
              <a:spcAft>
                <a:spcPts val="600"/>
              </a:spcAft>
            </a:pPr>
            <a:r>
              <a:rPr sz="2600" b="1">
                <a:solidFill>
                  <a:srgbClr val="12262B"/>
                </a:solidFill>
              </a:rPr>
              <a:t>Predictive</a:t>
            </a:r>
          </a:p>
        </p:txBody>
      </p:sp>
      <p:sp>
        <p:nvSpPr>
          <p:cNvPr id="40" name="TextBox 39"/>
          <p:cNvSpPr txBox="1"/>
          <p:nvPr/>
        </p:nvSpPr>
        <p:spPr>
          <a:xfrm>
            <a:off x="8412480" y="4389120"/>
            <a:ext cx="2971800" cy="640080"/>
          </a:xfrm>
          <a:prstGeom prst="rect">
            <a:avLst/>
          </a:prstGeom>
          <a:noFill/>
        </p:spPr>
        <p:txBody>
          <a:bodyPr wrap="square" anchor="t" lIns="0" rIns="0" tIns="0" bIns="0">
            <a:spAutoFit/>
          </a:bodyPr>
          <a:lstStyle/>
          <a:p>
            <a:pPr algn="l">
              <a:spcAft>
                <a:spcPts val="600"/>
              </a:spcAft>
            </a:pPr>
            <a:r>
              <a:rPr sz="1600" b="0">
                <a:solidFill>
                  <a:srgbClr val="12262B"/>
                </a:solidFill>
              </a:rPr>
              <a:t>Replace when monitoring raises an alarm</a:t>
            </a:r>
          </a:p>
        </p:txBody>
      </p:sp>
      <p:sp>
        <p:nvSpPr>
          <p:cNvPr id="41" name="TextBox 40"/>
          <p:cNvSpPr txBox="1"/>
          <p:nvPr/>
        </p:nvSpPr>
        <p:spPr>
          <a:xfrm>
            <a:off x="8412480" y="5029200"/>
            <a:ext cx="2971800" cy="548640"/>
          </a:xfrm>
          <a:prstGeom prst="rect">
            <a:avLst/>
          </a:prstGeom>
          <a:noFill/>
        </p:spPr>
        <p:txBody>
          <a:bodyPr wrap="square" anchor="t" lIns="0" rIns="0" tIns="0" bIns="0">
            <a:spAutoFit/>
          </a:bodyPr>
          <a:lstStyle/>
          <a:p>
            <a:pPr algn="l">
              <a:spcAft>
                <a:spcPts val="600"/>
              </a:spcAft>
            </a:pPr>
            <a:r>
              <a:rPr sz="1400" b="1">
                <a:solidFill>
                  <a:srgbClr val="F26B4F"/>
                </a:solidFill>
              </a:rPr>
              <a:t>Needs an early, reliable alarm: Part I</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r>
              <a:t>Each alarm is late or silent on a different bearing</a:t>
            </a:r>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A9B"/>
                </a:solidFill>
              </a:defRPr>
            </a:lvl1pPr>
          </a:lstStyle>
          <a:p>
            <a:pPr algn="r"/>
            <a:fld id="{F7021451-1387-4CA6-816F-3879F97B5CBC}" type="slidenum">
              <a:rPr b="0" lang="en-US"/>
              <a:t>2</a:t>
            </a:fld>
            <a:endParaRPr lang="en-US"/>
          </a:p>
        </p:txBody>
      </p:sp>
      <p:graphicFrame>
        <p:nvGraphicFramePr>
          <p:cNvPr id="26" name="Chart 25"/>
          <p:cNvGraphicFramePr>
            <a:graphicFrameLocks noGrp="1"/>
          </p:cNvGraphicFramePr>
          <p:nvPr/>
        </p:nvGraphicFramePr>
        <p:xfrm>
          <a:off x="548640" y="1234440"/>
          <a:ext cx="8138160" cy="4983480"/>
        </p:xfrm>
        <a:graphic>
          <a:graphicData uri="http://schemas.openxmlformats.org/drawingml/2006/chart">
            <c:chart xmlns:c="http://schemas.openxmlformats.org/drawingml/2006/chart" r:id="rId3"/>
          </a:graphicData>
        </a:graphic>
      </p:graphicFrame>
      <p:sp>
        <p:nvSpPr>
          <p:cNvPr id="27" name="missed note"/>
          <p:cNvSpPr txBox="1"/>
          <p:nvPr/>
        </p:nvSpPr>
        <p:spPr>
          <a:xfrm>
            <a:off x="7699248" y="5257800"/>
            <a:ext cx="960120" cy="365760"/>
          </a:xfrm>
          <a:prstGeom prst="rect">
            <a:avLst/>
          </a:prstGeom>
          <a:noFill/>
        </p:spPr>
        <p:txBody>
          <a:bodyPr wrap="square" anchor="t" lIns="0" rIns="0" tIns="0" bIns="0">
            <a:spAutoFit/>
          </a:bodyPr>
          <a:lstStyle/>
          <a:p>
            <a:pPr algn="l">
              <a:spcAft>
                <a:spcPts val="600"/>
              </a:spcAft>
            </a:pPr>
            <a:r>
              <a:rPr sz="1300" b="1">
                <a:solidFill>
                  <a:srgbClr val="7B4FD6"/>
                </a:solidFill>
              </a:rPr>
              <a:t>AI: missed</a:t>
            </a:r>
          </a:p>
        </p:txBody>
      </p:sp>
      <p:sp>
        <p:nvSpPr>
          <p:cNvPr id="28" name="stat 2 vs 0"/>
          <p:cNvSpPr txBox="1"/>
          <p:nvPr/>
        </p:nvSpPr>
        <p:spPr>
          <a:xfrm>
            <a:off x="9052560" y="1280160"/>
            <a:ext cx="2560320" cy="777240"/>
          </a:xfrm>
          <a:prstGeom prst="rect">
            <a:avLst/>
          </a:prstGeom>
          <a:noFill/>
        </p:spPr>
        <p:txBody>
          <a:bodyPr wrap="square" anchor="t" lIns="0" rIns="0" tIns="0" bIns="0">
            <a:spAutoFit/>
          </a:bodyPr>
          <a:lstStyle/>
          <a:p>
            <a:pPr algn="l">
              <a:spcAft>
                <a:spcPts val="600"/>
              </a:spcAft>
            </a:pPr>
            <a:r>
              <a:rPr sz="4400" b="1">
                <a:solidFill>
                  <a:srgbClr val="12262B"/>
                </a:solidFill>
              </a:rPr>
              <a:t>2 vs 0</a:t>
            </a:r>
          </a:p>
        </p:txBody>
      </p:sp>
      <p:sp>
        <p:nvSpPr>
          <p:cNvPr id="29" name="TextBox 28"/>
          <p:cNvSpPr txBox="1"/>
          <p:nvPr/>
        </p:nvSpPr>
        <p:spPr>
          <a:xfrm>
            <a:off x="9052560" y="2057400"/>
            <a:ext cx="2560320" cy="640080"/>
          </a:xfrm>
          <a:prstGeom prst="rect">
            <a:avLst/>
          </a:prstGeom>
          <a:noFill/>
        </p:spPr>
        <p:txBody>
          <a:bodyPr wrap="square" anchor="t" lIns="0" rIns="0" tIns="0" bIns="0">
            <a:spAutoFit/>
          </a:bodyPr>
          <a:lstStyle/>
          <a:p>
            <a:pPr algn="l">
              <a:spcAft>
                <a:spcPts val="600"/>
              </a:spcAft>
            </a:pPr>
            <a:r>
              <a:rPr sz="1500" b="0">
                <a:solidFill>
                  <a:srgbClr val="5E6E70"/>
                </a:solidFill>
              </a:rPr>
              <a:t>healthy bearings falsely alarmed (physics vs AI)</a:t>
            </a:r>
          </a:p>
        </p:txBody>
      </p:sp>
      <p:sp>
        <p:nvSpPr>
          <p:cNvPr id="30" name="complementary note"/>
          <p:cNvSpPr/>
          <p:nvPr/>
        </p:nvSpPr>
        <p:spPr>
          <a:xfrm>
            <a:off x="9052560" y="3017520"/>
            <a:ext cx="2560320" cy="2651760"/>
          </a:xfrm>
          <a:prstGeom prst="roundRect">
            <a:avLst>
              <a:gd name="adj" fmla="val 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235440" y="3154680"/>
            <a:ext cx="2194560" cy="2468880"/>
          </a:xfrm>
          <a:prstGeom prst="rect">
            <a:avLst/>
          </a:prstGeom>
          <a:noFill/>
        </p:spPr>
        <p:txBody>
          <a:bodyPr wrap="square" anchor="t" lIns="0" rIns="0" tIns="0" bIns="0">
            <a:spAutoFit/>
          </a:bodyPr>
          <a:lstStyle/>
          <a:p>
            <a:pPr algn="l">
              <a:spcAft>
                <a:spcPts val="600"/>
              </a:spcAft>
            </a:pPr>
            <a:r>
              <a:rPr sz="1800" b="1">
                <a:solidFill>
                  <a:srgbClr val="12262B"/>
                </a:solidFill>
              </a:rPr>
              <a:t>Complementary</a:t>
            </a:r>
          </a:p>
          <a:p>
            <a:pPr algn="l">
              <a:spcAft>
                <a:spcPts val="600"/>
              </a:spcAft>
            </a:pPr>
            <a:r>
              <a:rPr sz="1500" b="0">
                <a:solidFill>
                  <a:srgbClr val="12262B"/>
                </a:solidFill>
              </a:rPr>
              <a:t>AI warns 59 h earlier on the inner-race fault</a:t>
            </a:r>
          </a:p>
          <a:p>
            <a:pPr algn="l">
              <a:spcAft>
                <a:spcPts val="600"/>
              </a:spcAft>
            </a:pPr>
            <a:r>
              <a:rPr sz="1500" b="0">
                <a:solidFill>
                  <a:srgbClr val="12262B"/>
                </a:solidFill>
              </a:rPr>
              <a:t>Physics catches set 3 B3, which AI misses</a:t>
            </a:r>
          </a:p>
          <a:p>
            <a:pPr algn="l">
              <a:spcAft>
                <a:spcPts val="600"/>
              </a:spcAft>
            </a:pPr>
            <a:r>
              <a:rPr sz="1500" b="1">
                <a:solidFill>
                  <a:srgbClr val="F26B4F"/>
                </a:solidFill>
              </a:rPr>
              <a:t>Rule: act on either alarm</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r>
              <a:t>How we score a strategy</a:t>
            </a:r>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A9B"/>
                </a:solidFill>
              </a:defRPr>
            </a:lvl1pPr>
          </a:lstStyle>
          <a:p>
            <a:pPr algn="r"/>
            <a:fld id="{F7021451-1387-4CA6-816F-3879F97B5CBC}" type="slidenum">
              <a:rPr b="0" lang="en-US"/>
              <a:t>2</a:t>
            </a:fld>
            <a:endParaRPr lang="en-US"/>
          </a:p>
        </p:txBody>
      </p:sp>
      <p:sp>
        <p:nvSpPr>
          <p:cNvPr id="26" name="outcome Caught in time"/>
          <p:cNvSpPr/>
          <p:nvPr/>
        </p:nvSpPr>
        <p:spPr>
          <a:xfrm>
            <a:off x="548640" y="1371600"/>
            <a:ext cx="3520440" cy="2377440"/>
          </a:xfrm>
          <a:prstGeom prst="roundRect">
            <a:avLst>
              <a:gd name="adj" fmla="val 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22959" y="1554480"/>
            <a:ext cx="2971800" cy="457200"/>
          </a:xfrm>
          <a:prstGeom prst="rect">
            <a:avLst/>
          </a:prstGeom>
          <a:noFill/>
        </p:spPr>
        <p:txBody>
          <a:bodyPr wrap="square" anchor="t" lIns="0" rIns="0" tIns="0" bIns="0">
            <a:spAutoFit/>
          </a:bodyPr>
          <a:lstStyle/>
          <a:p>
            <a:pPr algn="l">
              <a:spcAft>
                <a:spcPts val="600"/>
              </a:spcAft>
            </a:pPr>
            <a:r>
              <a:rPr sz="2200" b="1">
                <a:solidFill>
                  <a:srgbClr val="3E9B5F"/>
                </a:solidFill>
              </a:rPr>
              <a:t>Caught in time</a:t>
            </a:r>
          </a:p>
        </p:txBody>
      </p:sp>
      <p:sp>
        <p:nvSpPr>
          <p:cNvPr id="28" name="TextBox 27"/>
          <p:cNvSpPr txBox="1"/>
          <p:nvPr/>
        </p:nvSpPr>
        <p:spPr>
          <a:xfrm>
            <a:off x="822959" y="2103120"/>
            <a:ext cx="2971800" cy="822960"/>
          </a:xfrm>
          <a:prstGeom prst="rect">
            <a:avLst/>
          </a:prstGeom>
          <a:noFill/>
        </p:spPr>
        <p:txBody>
          <a:bodyPr wrap="square" anchor="t" lIns="0" rIns="0" tIns="0" bIns="0">
            <a:spAutoFit/>
          </a:bodyPr>
          <a:lstStyle/>
          <a:p>
            <a:pPr algn="l">
              <a:spcAft>
                <a:spcPts val="600"/>
              </a:spcAft>
            </a:pPr>
            <a:r>
              <a:rPr sz="1600" b="0">
                <a:solidFill>
                  <a:srgbClr val="12262B"/>
                </a:solidFill>
              </a:rPr>
              <a:t>Alarm ≥ 24 h before failure: planned replacement</a:t>
            </a:r>
          </a:p>
        </p:txBody>
      </p:sp>
      <p:sp>
        <p:nvSpPr>
          <p:cNvPr id="29" name="TextBox 28"/>
          <p:cNvSpPr txBox="1"/>
          <p:nvPr/>
        </p:nvSpPr>
        <p:spPr>
          <a:xfrm>
            <a:off x="822959" y="3063240"/>
            <a:ext cx="2971800" cy="457200"/>
          </a:xfrm>
          <a:prstGeom prst="rect">
            <a:avLst/>
          </a:prstGeom>
          <a:noFill/>
        </p:spPr>
        <p:txBody>
          <a:bodyPr wrap="square" anchor="t" lIns="0" rIns="0" tIns="0" bIns="0">
            <a:spAutoFit/>
          </a:bodyPr>
          <a:lstStyle/>
          <a:p>
            <a:pPr algn="l">
              <a:spcAft>
                <a:spcPts val="600"/>
              </a:spcAft>
            </a:pPr>
            <a:r>
              <a:rPr sz="2600" b="1">
                <a:solidFill>
                  <a:srgbClr val="12262B"/>
                </a:solidFill>
              </a:rPr>
              <a:t>cost 1</a:t>
            </a:r>
          </a:p>
        </p:txBody>
      </p:sp>
      <p:sp>
        <p:nvSpPr>
          <p:cNvPr id="30" name="outcome Breakdown"/>
          <p:cNvSpPr/>
          <p:nvPr/>
        </p:nvSpPr>
        <p:spPr>
          <a:xfrm>
            <a:off x="4343400" y="1371600"/>
            <a:ext cx="3520440" cy="2377440"/>
          </a:xfrm>
          <a:prstGeom prst="roundRect">
            <a:avLst>
              <a:gd name="adj" fmla="val 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617720" y="1554480"/>
            <a:ext cx="2971800" cy="457200"/>
          </a:xfrm>
          <a:prstGeom prst="rect">
            <a:avLst/>
          </a:prstGeom>
          <a:noFill/>
        </p:spPr>
        <p:txBody>
          <a:bodyPr wrap="square" anchor="t" lIns="0" rIns="0" tIns="0" bIns="0">
            <a:spAutoFit/>
          </a:bodyPr>
          <a:lstStyle/>
          <a:p>
            <a:pPr algn="l">
              <a:spcAft>
                <a:spcPts val="600"/>
              </a:spcAft>
            </a:pPr>
            <a:r>
              <a:rPr sz="2200" b="1">
                <a:solidFill>
                  <a:srgbClr val="D64545"/>
                </a:solidFill>
              </a:rPr>
              <a:t>Breakdown</a:t>
            </a:r>
          </a:p>
        </p:txBody>
      </p:sp>
      <p:sp>
        <p:nvSpPr>
          <p:cNvPr id="32" name="TextBox 31"/>
          <p:cNvSpPr txBox="1"/>
          <p:nvPr/>
        </p:nvSpPr>
        <p:spPr>
          <a:xfrm>
            <a:off x="4617720" y="2103120"/>
            <a:ext cx="2971800" cy="822960"/>
          </a:xfrm>
          <a:prstGeom prst="rect">
            <a:avLst/>
          </a:prstGeom>
          <a:noFill/>
        </p:spPr>
        <p:txBody>
          <a:bodyPr wrap="square" anchor="t" lIns="0" rIns="0" tIns="0" bIns="0">
            <a:spAutoFit/>
          </a:bodyPr>
          <a:lstStyle/>
          <a:p>
            <a:pPr algn="l">
              <a:spcAft>
                <a:spcPts val="600"/>
              </a:spcAft>
            </a:pPr>
            <a:r>
              <a:rPr sz="1600" b="0">
                <a:solidFill>
                  <a:srgbClr val="12262B"/>
                </a:solidFill>
              </a:rPr>
              <a:t>No alarm, or alarm too late for the crew</a:t>
            </a:r>
          </a:p>
        </p:txBody>
      </p:sp>
      <p:sp>
        <p:nvSpPr>
          <p:cNvPr id="33" name="TextBox 32"/>
          <p:cNvSpPr txBox="1"/>
          <p:nvPr/>
        </p:nvSpPr>
        <p:spPr>
          <a:xfrm>
            <a:off x="4617720" y="3063240"/>
            <a:ext cx="2971800" cy="457200"/>
          </a:xfrm>
          <a:prstGeom prst="rect">
            <a:avLst/>
          </a:prstGeom>
          <a:noFill/>
        </p:spPr>
        <p:txBody>
          <a:bodyPr wrap="square" anchor="t" lIns="0" rIns="0" tIns="0" bIns="0">
            <a:spAutoFit/>
          </a:bodyPr>
          <a:lstStyle/>
          <a:p>
            <a:pPr algn="l">
              <a:spcAft>
                <a:spcPts val="600"/>
              </a:spcAft>
            </a:pPr>
            <a:r>
              <a:rPr sz="2600" b="1">
                <a:solidFill>
                  <a:srgbClr val="12262B"/>
                </a:solidFill>
              </a:rPr>
              <a:t>cost 10</a:t>
            </a:r>
          </a:p>
        </p:txBody>
      </p:sp>
      <p:sp>
        <p:nvSpPr>
          <p:cNvPr id="34" name="outcome Needless replacement"/>
          <p:cNvSpPr/>
          <p:nvPr/>
        </p:nvSpPr>
        <p:spPr>
          <a:xfrm>
            <a:off x="8138160" y="1371600"/>
            <a:ext cx="3520440" cy="2377440"/>
          </a:xfrm>
          <a:prstGeom prst="roundRect">
            <a:avLst>
              <a:gd name="adj" fmla="val 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412480" y="1554480"/>
            <a:ext cx="2971800" cy="457200"/>
          </a:xfrm>
          <a:prstGeom prst="rect">
            <a:avLst/>
          </a:prstGeom>
          <a:noFill/>
        </p:spPr>
        <p:txBody>
          <a:bodyPr wrap="square" anchor="t" lIns="0" rIns="0" tIns="0" bIns="0">
            <a:spAutoFit/>
          </a:bodyPr>
          <a:lstStyle/>
          <a:p>
            <a:pPr algn="l">
              <a:spcAft>
                <a:spcPts val="600"/>
              </a:spcAft>
            </a:pPr>
            <a:r>
              <a:rPr sz="2200" b="1">
                <a:solidFill>
                  <a:srgbClr val="8A9A9B"/>
                </a:solidFill>
              </a:rPr>
              <a:t>Needless replacement</a:t>
            </a:r>
          </a:p>
        </p:txBody>
      </p:sp>
      <p:sp>
        <p:nvSpPr>
          <p:cNvPr id="36" name="TextBox 35"/>
          <p:cNvSpPr txBox="1"/>
          <p:nvPr/>
        </p:nvSpPr>
        <p:spPr>
          <a:xfrm>
            <a:off x="8412480" y="2103120"/>
            <a:ext cx="2971800" cy="822960"/>
          </a:xfrm>
          <a:prstGeom prst="rect">
            <a:avLst/>
          </a:prstGeom>
          <a:noFill/>
        </p:spPr>
        <p:txBody>
          <a:bodyPr wrap="square" anchor="t" lIns="0" rIns="0" tIns="0" bIns="0">
            <a:spAutoFit/>
          </a:bodyPr>
          <a:lstStyle/>
          <a:p>
            <a:pPr algn="l">
              <a:spcAft>
                <a:spcPts val="600"/>
              </a:spcAft>
            </a:pPr>
            <a:r>
              <a:rPr sz="1600" b="0">
                <a:solidFill>
                  <a:srgbClr val="12262B"/>
                </a:solidFill>
              </a:rPr>
              <a:t>Alarm on a healthy bearing</a:t>
            </a:r>
          </a:p>
        </p:txBody>
      </p:sp>
      <p:sp>
        <p:nvSpPr>
          <p:cNvPr id="37" name="TextBox 36"/>
          <p:cNvSpPr txBox="1"/>
          <p:nvPr/>
        </p:nvSpPr>
        <p:spPr>
          <a:xfrm>
            <a:off x="8412480" y="3063240"/>
            <a:ext cx="2971800" cy="457200"/>
          </a:xfrm>
          <a:prstGeom prst="rect">
            <a:avLst/>
          </a:prstGeom>
          <a:noFill/>
        </p:spPr>
        <p:txBody>
          <a:bodyPr wrap="square" anchor="t" lIns="0" rIns="0" tIns="0" bIns="0">
            <a:spAutoFit/>
          </a:bodyPr>
          <a:lstStyle/>
          <a:p>
            <a:pPr algn="l">
              <a:spcAft>
                <a:spcPts val="600"/>
              </a:spcAft>
            </a:pPr>
            <a:r>
              <a:rPr sz="2600" b="1">
                <a:solidFill>
                  <a:srgbClr val="12262B"/>
                </a:solidFill>
              </a:rPr>
              <a:t>cost 1</a:t>
            </a:r>
          </a:p>
        </p:txBody>
      </p:sp>
      <p:sp>
        <p:nvSpPr>
          <p:cNvPr id="38" name="formula"/>
          <p:cNvSpPr/>
          <p:nvPr/>
        </p:nvSpPr>
        <p:spPr>
          <a:xfrm>
            <a:off x="548640" y="4069080"/>
            <a:ext cx="11064240" cy="123444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48640" y="4160520"/>
            <a:ext cx="11064240" cy="1097280"/>
          </a:xfrm>
          <a:prstGeom prst="rect">
            <a:avLst/>
          </a:prstGeom>
          <a:noFill/>
        </p:spPr>
        <p:txBody>
          <a:bodyPr wrap="square" anchor="t" lIns="0" rIns="0" tIns="0" bIns="0">
            <a:spAutoFit/>
          </a:bodyPr>
          <a:lstStyle/>
          <a:p>
            <a:pPr algn="ctr">
              <a:spcAft>
                <a:spcPts val="1000"/>
              </a:spcAft>
            </a:pPr>
            <a:r>
              <a:rPr sz="2400" b="1">
                <a:solidFill>
                  <a:srgbClr val="12262B"/>
                </a:solidFill>
              </a:rPr>
              <a:t>Cost per 1,000 h  =  1,000 × total cost ÷ total operating hours</a:t>
            </a:r>
          </a:p>
          <a:p>
            <a:pPr algn="ctr">
              <a:spcAft>
                <a:spcPts val="1000"/>
              </a:spcAft>
            </a:pPr>
            <a:r>
              <a:rPr sz="1500" b="0">
                <a:solidFill>
                  <a:srgbClr val="5E6E70"/>
                </a:solidFill>
              </a:rPr>
              <a:t>Lead time 24 h and breakdown factor 10 are assumptions: both are varied on the next slides</a:t>
            </a:r>
          </a:p>
        </p:txBody>
      </p:sp>
      <p:sp>
        <p:nvSpPr>
          <p:cNvPr id="40" name="TextBox 39"/>
          <p:cNvSpPr txBox="1"/>
          <p:nvPr/>
        </p:nvSpPr>
        <p:spPr>
          <a:xfrm>
            <a:off x="548640" y="5577840"/>
            <a:ext cx="11064240" cy="548640"/>
          </a:xfrm>
          <a:prstGeom prst="rect">
            <a:avLst/>
          </a:prstGeom>
          <a:noFill/>
        </p:spPr>
        <p:txBody>
          <a:bodyPr wrap="square" anchor="t" lIns="0" rIns="0" tIns="0" bIns="0">
            <a:spAutoFit/>
          </a:bodyPr>
          <a:lstStyle/>
          <a:p>
            <a:pPr algn="l">
              <a:spcAft>
                <a:spcPts val="600"/>
              </a:spcAft>
            </a:pPr>
            <a:r>
              <a:rPr sz="1500" b="0">
                <a:solidFill>
                  <a:srgbClr val="5E6E70"/>
                </a:solidFill>
              </a:rPr>
              <a:t>Same 12 bearings for every strategy. Preventive gets its best interval chosen with hindsight, so it is shown at its most optimistic.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r>
              <a:t>Result: acting on either alarm catches all 4 failures</a:t>
            </a:r>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A9B"/>
                </a:solidFill>
              </a:defRPr>
            </a:lvl1pPr>
          </a:lstStyle>
          <a:p>
            <a:pPr algn="r"/>
            <a:fld id="{F7021451-1387-4CA6-816F-3879F97B5CBC}" type="slidenum">
              <a:rPr b="0" lang="en-US"/>
              <a:t>2</a:t>
            </a:fld>
            <a:endParaRPr lang="en-US"/>
          </a:p>
        </p:txBody>
      </p:sp>
      <p:graphicFrame>
        <p:nvGraphicFramePr>
          <p:cNvPr id="26" name="Table 25"/>
          <p:cNvGraphicFramePr>
            <a:graphicFrameLocks noGrp="1"/>
          </p:cNvGraphicFramePr>
          <p:nvPr/>
        </p:nvGraphicFramePr>
        <p:xfrm>
          <a:off x="548640" y="1371600"/>
          <a:ext cx="8138160" cy="3968496"/>
        </p:xfrm>
        <a:graphic>
          <a:graphicData uri="http://schemas.openxmlformats.org/drawingml/2006/table">
            <a:tbl>
              <a:tblPr firstRow="1">
                <a:tableStyleId>{5C22544A-7EE6-4342-B048-85BDC9FD1C3A}</a:tableStyleId>
              </a:tblPr>
              <a:tblGrid>
                <a:gridCol w="2926080"/>
                <a:gridCol w="1051560"/>
                <a:gridCol w="1371600"/>
                <a:gridCol w="1143000"/>
                <a:gridCol w="1645920"/>
              </a:tblGrid>
              <a:tr h="566928">
                <a:tc>
                  <a:txBody>
                    <a:bodyPr wrap="square"/>
                    <a:lstStyle/>
                    <a:p>
                      <a:pPr algn="l"/>
                      <a:r>
                        <a:rPr sz="1600" b="1">
                          <a:solidFill>
                            <a:srgbClr val="FFFFFF"/>
                          </a:solidFill>
                        </a:rPr>
                        <a:t>Strategy</a:t>
                      </a:r>
                    </a:p>
                  </a:txBody>
                  <a:tcPr anchor="ctr" marL="73152" marR="73152">
                    <a:lnL w="9525">
                      <a:solidFill>
                        <a:srgbClr val="D3E2E0"/>
                      </a:solidFill>
                    </a:lnL>
                    <a:lnR w="9525">
                      <a:solidFill>
                        <a:srgbClr val="D3E2E0"/>
                      </a:solidFill>
                    </a:lnR>
                    <a:lnT w="9525">
                      <a:solidFill>
                        <a:srgbClr val="D3E2E0"/>
                      </a:solidFill>
                    </a:lnT>
                    <a:lnB w="9525">
                      <a:solidFill>
                        <a:srgbClr val="D3E2E0"/>
                      </a:solidFill>
                    </a:lnB>
                    <a:solidFill>
                      <a:srgbClr val="0F4C5C"/>
                    </a:solidFill>
                  </a:tcPr>
                </a:tc>
                <a:tc>
                  <a:txBody>
                    <a:bodyPr wrap="square"/>
                    <a:lstStyle/>
                    <a:p>
                      <a:pPr algn="ctr"/>
                      <a:r>
                        <a:rPr sz="1600" b="1">
                          <a:solidFill>
                            <a:srgbClr val="FFFFFF"/>
                          </a:solidFill>
                        </a:rPr>
                        <a:t>Caught</a:t>
                      </a:r>
                    </a:p>
                  </a:txBody>
                  <a:tcPr anchor="ctr" marL="73152" marR="73152">
                    <a:lnL w="9525">
                      <a:solidFill>
                        <a:srgbClr val="D3E2E0"/>
                      </a:solidFill>
                    </a:lnL>
                    <a:lnR w="9525">
                      <a:solidFill>
                        <a:srgbClr val="D3E2E0"/>
                      </a:solidFill>
                    </a:lnR>
                    <a:lnT w="9525">
                      <a:solidFill>
                        <a:srgbClr val="D3E2E0"/>
                      </a:solidFill>
                    </a:lnT>
                    <a:lnB w="9525">
                      <a:solidFill>
                        <a:srgbClr val="D3E2E0"/>
                      </a:solidFill>
                    </a:lnB>
                    <a:solidFill>
                      <a:srgbClr val="0F4C5C"/>
                    </a:solidFill>
                  </a:tcPr>
                </a:tc>
                <a:tc>
                  <a:txBody>
                    <a:bodyPr wrap="square"/>
                    <a:lstStyle/>
                    <a:p>
                      <a:pPr algn="ctr"/>
                      <a:r>
                        <a:rPr sz="1600" b="1">
                          <a:solidFill>
                            <a:srgbClr val="FFFFFF"/>
                          </a:solidFill>
                        </a:rPr>
                        <a:t>Breakdowns</a:t>
                      </a:r>
                    </a:p>
                  </a:txBody>
                  <a:tcPr anchor="ctr" marL="73152" marR="73152">
                    <a:lnL w="9525">
                      <a:solidFill>
                        <a:srgbClr val="D3E2E0"/>
                      </a:solidFill>
                    </a:lnL>
                    <a:lnR w="9525">
                      <a:solidFill>
                        <a:srgbClr val="D3E2E0"/>
                      </a:solidFill>
                    </a:lnR>
                    <a:lnT w="9525">
                      <a:solidFill>
                        <a:srgbClr val="D3E2E0"/>
                      </a:solidFill>
                    </a:lnT>
                    <a:lnB w="9525">
                      <a:solidFill>
                        <a:srgbClr val="D3E2E0"/>
                      </a:solidFill>
                    </a:lnB>
                    <a:solidFill>
                      <a:srgbClr val="0F4C5C"/>
                    </a:solidFill>
                  </a:tcPr>
                </a:tc>
                <a:tc>
                  <a:txBody>
                    <a:bodyPr wrap="square"/>
                    <a:lstStyle/>
                    <a:p>
                      <a:pPr algn="ctr"/>
                      <a:r>
                        <a:rPr sz="1600" b="1">
                          <a:solidFill>
                            <a:srgbClr val="FFFFFF"/>
                          </a:solidFill>
                        </a:rPr>
                        <a:t>Needless</a:t>
                      </a:r>
                    </a:p>
                  </a:txBody>
                  <a:tcPr anchor="ctr" marL="73152" marR="73152">
                    <a:lnL w="9525">
                      <a:solidFill>
                        <a:srgbClr val="D3E2E0"/>
                      </a:solidFill>
                    </a:lnL>
                    <a:lnR w="9525">
                      <a:solidFill>
                        <a:srgbClr val="D3E2E0"/>
                      </a:solidFill>
                    </a:lnR>
                    <a:lnT w="9525">
                      <a:solidFill>
                        <a:srgbClr val="D3E2E0"/>
                      </a:solidFill>
                    </a:lnT>
                    <a:lnB w="9525">
                      <a:solidFill>
                        <a:srgbClr val="D3E2E0"/>
                      </a:solidFill>
                    </a:lnB>
                    <a:solidFill>
                      <a:srgbClr val="0F4C5C"/>
                    </a:solidFill>
                  </a:tcPr>
                </a:tc>
                <a:tc>
                  <a:txBody>
                    <a:bodyPr wrap="square"/>
                    <a:lstStyle/>
                    <a:p>
                      <a:pPr algn="ctr"/>
                      <a:r>
                        <a:rPr sz="1600" b="1">
                          <a:solidFill>
                            <a:srgbClr val="FFFFFF"/>
                          </a:solidFill>
                        </a:rPr>
                        <a:t>Cost / 1,000 h</a:t>
                      </a:r>
                    </a:p>
                  </a:txBody>
                  <a:tcPr anchor="ctr" marL="73152" marR="73152">
                    <a:lnL w="9525">
                      <a:solidFill>
                        <a:srgbClr val="D3E2E0"/>
                      </a:solidFill>
                    </a:lnL>
                    <a:lnR w="9525">
                      <a:solidFill>
                        <a:srgbClr val="D3E2E0"/>
                      </a:solidFill>
                    </a:lnR>
                    <a:lnT w="9525">
                      <a:solidFill>
                        <a:srgbClr val="D3E2E0"/>
                      </a:solidFill>
                    </a:lnT>
                    <a:lnB w="9525">
                      <a:solidFill>
                        <a:srgbClr val="D3E2E0"/>
                      </a:solidFill>
                    </a:lnB>
                    <a:solidFill>
                      <a:srgbClr val="0F4C5C"/>
                    </a:solidFill>
                  </a:tcPr>
                </a:tc>
              </a:tr>
              <a:tr h="566928">
                <a:tc>
                  <a:txBody>
                    <a:bodyPr wrap="square"/>
                    <a:lstStyle/>
                    <a:p>
                      <a:pPr algn="l"/>
                      <a:r>
                        <a:rPr sz="1700" b="0">
                          <a:solidFill>
                            <a:srgbClr val="12262B"/>
                          </a:solidFill>
                        </a:rPr>
                        <a:t>Reactive (run to failure)</a:t>
                      </a:r>
                    </a:p>
                  </a:txBody>
                  <a:tcPr anchor="ctr" marL="73152" marR="73152">
                    <a:lnL w="9525">
                      <a:solidFill>
                        <a:srgbClr val="D3E2E0"/>
                      </a:solidFill>
                    </a:lnL>
                    <a:lnR w="9525">
                      <a:solidFill>
                        <a:srgbClr val="D3E2E0"/>
                      </a:solidFill>
                    </a:lnR>
                    <a:lnT w="9525">
                      <a:solidFill>
                        <a:srgbClr val="D3E2E0"/>
                      </a:solidFill>
                    </a:lnT>
                    <a:lnB w="9525">
                      <a:solidFill>
                        <a:srgbClr val="D3E2E0"/>
                      </a:solidFill>
                    </a:lnB>
                    <a:solidFill>
                      <a:srgbClr val="FFFFFF"/>
                    </a:solidFill>
                  </a:tcPr>
                </a:tc>
                <a:tc>
                  <a:txBody>
                    <a:bodyPr wrap="square"/>
                    <a:lstStyle/>
                    <a:p>
                      <a:pPr algn="ctr"/>
                      <a:r>
                        <a:rPr sz="1700" b="0">
                          <a:solidFill>
                            <a:srgbClr val="12262B"/>
                          </a:solidFill>
                        </a:rPr>
                        <a:t>0 / 4</a:t>
                      </a:r>
                    </a:p>
                  </a:txBody>
                  <a:tcPr anchor="ctr" marL="73152" marR="73152">
                    <a:lnL w="9525">
                      <a:solidFill>
                        <a:srgbClr val="D3E2E0"/>
                      </a:solidFill>
                    </a:lnL>
                    <a:lnR w="9525">
                      <a:solidFill>
                        <a:srgbClr val="D3E2E0"/>
                      </a:solidFill>
                    </a:lnR>
                    <a:lnT w="9525">
                      <a:solidFill>
                        <a:srgbClr val="D3E2E0"/>
                      </a:solidFill>
                    </a:lnT>
                    <a:lnB w="9525">
                      <a:solidFill>
                        <a:srgbClr val="D3E2E0"/>
                      </a:solidFill>
                    </a:lnB>
                    <a:solidFill>
                      <a:srgbClr val="FFFFFF"/>
                    </a:solidFill>
                  </a:tcPr>
                </a:tc>
                <a:tc>
                  <a:txBody>
                    <a:bodyPr wrap="square"/>
                    <a:lstStyle/>
                    <a:p>
                      <a:pPr algn="ctr"/>
                      <a:r>
                        <a:rPr sz="1700" b="0">
                          <a:solidFill>
                            <a:srgbClr val="12262B"/>
                          </a:solidFill>
                        </a:rPr>
                        <a:t>4</a:t>
                      </a:r>
                    </a:p>
                  </a:txBody>
                  <a:tcPr anchor="ctr" marL="73152" marR="73152">
                    <a:lnL w="9525">
                      <a:solidFill>
                        <a:srgbClr val="D3E2E0"/>
                      </a:solidFill>
                    </a:lnL>
                    <a:lnR w="9525">
                      <a:solidFill>
                        <a:srgbClr val="D3E2E0"/>
                      </a:solidFill>
                    </a:lnR>
                    <a:lnT w="9525">
                      <a:solidFill>
                        <a:srgbClr val="D3E2E0"/>
                      </a:solidFill>
                    </a:lnT>
                    <a:lnB w="9525">
                      <a:solidFill>
                        <a:srgbClr val="D3E2E0"/>
                      </a:solidFill>
                    </a:lnB>
                    <a:solidFill>
                      <a:srgbClr val="FFFFFF"/>
                    </a:solidFill>
                  </a:tcPr>
                </a:tc>
                <a:tc>
                  <a:txBody>
                    <a:bodyPr wrap="square"/>
                    <a:lstStyle/>
                    <a:p>
                      <a:pPr algn="ctr"/>
                      <a:r>
                        <a:rPr sz="1700" b="0">
                          <a:solidFill>
                            <a:srgbClr val="12262B"/>
                          </a:solidFill>
                        </a:rPr>
                        <a:t>0</a:t>
                      </a:r>
                    </a:p>
                  </a:txBody>
                  <a:tcPr anchor="ctr" marL="73152" marR="73152">
                    <a:lnL w="9525">
                      <a:solidFill>
                        <a:srgbClr val="D3E2E0"/>
                      </a:solidFill>
                    </a:lnL>
                    <a:lnR w="9525">
                      <a:solidFill>
                        <a:srgbClr val="D3E2E0"/>
                      </a:solidFill>
                    </a:lnR>
                    <a:lnT w="9525">
                      <a:solidFill>
                        <a:srgbClr val="D3E2E0"/>
                      </a:solidFill>
                    </a:lnT>
                    <a:lnB w="9525">
                      <a:solidFill>
                        <a:srgbClr val="D3E2E0"/>
                      </a:solidFill>
                    </a:lnB>
                    <a:solidFill>
                      <a:srgbClr val="FFFFFF"/>
                    </a:solidFill>
                  </a:tcPr>
                </a:tc>
                <a:tc>
                  <a:txBody>
                    <a:bodyPr wrap="square"/>
                    <a:lstStyle/>
                    <a:p>
                      <a:pPr algn="ctr"/>
                      <a:r>
                        <a:rPr sz="1700" b="0">
                          <a:solidFill>
                            <a:srgbClr val="12262B"/>
                          </a:solidFill>
                        </a:rPr>
                        <a:t>4.84</a:t>
                      </a:r>
                    </a:p>
                  </a:txBody>
                  <a:tcPr anchor="ctr" marL="73152" marR="73152">
                    <a:lnL w="9525">
                      <a:solidFill>
                        <a:srgbClr val="D3E2E0"/>
                      </a:solidFill>
                    </a:lnL>
                    <a:lnR w="9525">
                      <a:solidFill>
                        <a:srgbClr val="D3E2E0"/>
                      </a:solidFill>
                    </a:lnR>
                    <a:lnT w="9525">
                      <a:solidFill>
                        <a:srgbClr val="D3E2E0"/>
                      </a:solidFill>
                    </a:lnT>
                    <a:lnB w="9525">
                      <a:solidFill>
                        <a:srgbClr val="D3E2E0"/>
                      </a:solidFill>
                    </a:lnB>
                    <a:solidFill>
                      <a:srgbClr val="FFFFFF"/>
                    </a:solidFill>
                  </a:tcPr>
                </a:tc>
              </a:tr>
              <a:tr h="566928">
                <a:tc>
                  <a:txBody>
                    <a:bodyPr wrap="square"/>
                    <a:lstStyle/>
                    <a:p>
                      <a:pPr algn="l"/>
                      <a:r>
                        <a:rPr sz="1700" b="0">
                          <a:solidFill>
                            <a:srgbClr val="12262B"/>
                          </a:solidFill>
                        </a:rPr>
                        <a:t>Preventive (every 824 h)*</a:t>
                      </a:r>
                    </a:p>
                  </a:txBody>
                  <a:tcPr anchor="ctr" marL="73152" marR="73152">
                    <a:lnL w="9525">
                      <a:solidFill>
                        <a:srgbClr val="D3E2E0"/>
                      </a:solidFill>
                    </a:lnL>
                    <a:lnR w="9525">
                      <a:solidFill>
                        <a:srgbClr val="D3E2E0"/>
                      </a:solidFill>
                    </a:lnR>
                    <a:lnT w="9525">
                      <a:solidFill>
                        <a:srgbClr val="D3E2E0"/>
                      </a:solidFill>
                    </a:lnT>
                    <a:lnB w="9525">
                      <a:solidFill>
                        <a:srgbClr val="D3E2E0"/>
                      </a:solidFill>
                    </a:lnB>
                    <a:solidFill>
                      <a:srgbClr val="FFFFFF"/>
                    </a:solidFill>
                  </a:tcPr>
                </a:tc>
                <a:tc>
                  <a:txBody>
                    <a:bodyPr wrap="square"/>
                    <a:lstStyle/>
                    <a:p>
                      <a:pPr algn="ctr"/>
                      <a:r>
                        <a:rPr sz="1700" b="0">
                          <a:solidFill>
                            <a:srgbClr val="12262B"/>
                          </a:solidFill>
                        </a:rPr>
                        <a:t>3 / 4</a:t>
                      </a:r>
                    </a:p>
                  </a:txBody>
                  <a:tcPr anchor="ctr" marL="73152" marR="73152">
                    <a:lnL w="9525">
                      <a:solidFill>
                        <a:srgbClr val="D3E2E0"/>
                      </a:solidFill>
                    </a:lnL>
                    <a:lnR w="9525">
                      <a:solidFill>
                        <a:srgbClr val="D3E2E0"/>
                      </a:solidFill>
                    </a:lnR>
                    <a:lnT w="9525">
                      <a:solidFill>
                        <a:srgbClr val="D3E2E0"/>
                      </a:solidFill>
                    </a:lnT>
                    <a:lnB w="9525">
                      <a:solidFill>
                        <a:srgbClr val="D3E2E0"/>
                      </a:solidFill>
                    </a:lnB>
                    <a:solidFill>
                      <a:srgbClr val="FFFFFF"/>
                    </a:solidFill>
                  </a:tcPr>
                </a:tc>
                <a:tc>
                  <a:txBody>
                    <a:bodyPr wrap="square"/>
                    <a:lstStyle/>
                    <a:p>
                      <a:pPr algn="ctr"/>
                      <a:r>
                        <a:rPr sz="1700" b="0">
                          <a:solidFill>
                            <a:srgbClr val="12262B"/>
                          </a:solidFill>
                        </a:rPr>
                        <a:t>1</a:t>
                      </a:r>
                    </a:p>
                  </a:txBody>
                  <a:tcPr anchor="ctr" marL="73152" marR="73152">
                    <a:lnL w="9525">
                      <a:solidFill>
                        <a:srgbClr val="D3E2E0"/>
                      </a:solidFill>
                    </a:lnL>
                    <a:lnR w="9525">
                      <a:solidFill>
                        <a:srgbClr val="D3E2E0"/>
                      </a:solidFill>
                    </a:lnR>
                    <a:lnT w="9525">
                      <a:solidFill>
                        <a:srgbClr val="D3E2E0"/>
                      </a:solidFill>
                    </a:lnT>
                    <a:lnB w="9525">
                      <a:solidFill>
                        <a:srgbClr val="D3E2E0"/>
                      </a:solidFill>
                    </a:lnB>
                    <a:solidFill>
                      <a:srgbClr val="FFFFFF"/>
                    </a:solidFill>
                  </a:tcPr>
                </a:tc>
                <a:tc>
                  <a:txBody>
                    <a:bodyPr wrap="square"/>
                    <a:lstStyle/>
                    <a:p>
                      <a:pPr algn="ctr"/>
                      <a:r>
                        <a:rPr sz="1700" b="0">
                          <a:solidFill>
                            <a:srgbClr val="12262B"/>
                          </a:solidFill>
                        </a:rPr>
                        <a:t>5</a:t>
                      </a:r>
                    </a:p>
                  </a:txBody>
                  <a:tcPr anchor="ctr" marL="73152" marR="73152">
                    <a:lnL w="9525">
                      <a:solidFill>
                        <a:srgbClr val="D3E2E0"/>
                      </a:solidFill>
                    </a:lnL>
                    <a:lnR w="9525">
                      <a:solidFill>
                        <a:srgbClr val="D3E2E0"/>
                      </a:solidFill>
                    </a:lnR>
                    <a:lnT w="9525">
                      <a:solidFill>
                        <a:srgbClr val="D3E2E0"/>
                      </a:solidFill>
                    </a:lnT>
                    <a:lnB w="9525">
                      <a:solidFill>
                        <a:srgbClr val="D3E2E0"/>
                      </a:solidFill>
                    </a:lnB>
                    <a:solidFill>
                      <a:srgbClr val="FFFFFF"/>
                    </a:solidFill>
                  </a:tcPr>
                </a:tc>
                <a:tc>
                  <a:txBody>
                    <a:bodyPr wrap="square"/>
                    <a:lstStyle/>
                    <a:p>
                      <a:pPr algn="ctr"/>
                      <a:r>
                        <a:rPr sz="1700" b="0">
                          <a:solidFill>
                            <a:srgbClr val="12262B"/>
                          </a:solidFill>
                        </a:rPr>
                        <a:t>2.48</a:t>
                      </a:r>
                    </a:p>
                  </a:txBody>
                  <a:tcPr anchor="ctr" marL="73152" marR="73152">
                    <a:lnL w="9525">
                      <a:solidFill>
                        <a:srgbClr val="D3E2E0"/>
                      </a:solidFill>
                    </a:lnL>
                    <a:lnR w="9525">
                      <a:solidFill>
                        <a:srgbClr val="D3E2E0"/>
                      </a:solidFill>
                    </a:lnR>
                    <a:lnT w="9525">
                      <a:solidFill>
                        <a:srgbClr val="D3E2E0"/>
                      </a:solidFill>
                    </a:lnT>
                    <a:lnB w="9525">
                      <a:solidFill>
                        <a:srgbClr val="D3E2E0"/>
                      </a:solidFill>
                    </a:lnB>
                    <a:solidFill>
                      <a:srgbClr val="FFFFFF"/>
                    </a:solidFill>
                  </a:tcPr>
                </a:tc>
              </a:tr>
              <a:tr h="566928">
                <a:tc>
                  <a:txBody>
                    <a:bodyPr wrap="square"/>
                    <a:lstStyle/>
                    <a:p>
                      <a:pPr algn="l"/>
                      <a:r>
                        <a:rPr sz="1700" b="0">
                          <a:solidFill>
                            <a:srgbClr val="12262B"/>
                          </a:solidFill>
                        </a:rPr>
                        <a:t>Physics alarm</a:t>
                      </a:r>
                    </a:p>
                  </a:txBody>
                  <a:tcPr anchor="ctr" marL="73152" marR="73152">
                    <a:lnL w="9525">
                      <a:solidFill>
                        <a:srgbClr val="D3E2E0"/>
                      </a:solidFill>
                    </a:lnL>
                    <a:lnR w="9525">
                      <a:solidFill>
                        <a:srgbClr val="D3E2E0"/>
                      </a:solidFill>
                    </a:lnR>
                    <a:lnT w="9525">
                      <a:solidFill>
                        <a:srgbClr val="D3E2E0"/>
                      </a:solidFill>
                    </a:lnT>
                    <a:lnB w="9525">
                      <a:solidFill>
                        <a:srgbClr val="D3E2E0"/>
                      </a:solidFill>
                    </a:lnB>
                    <a:solidFill>
                      <a:srgbClr val="FFFFFF"/>
                    </a:solidFill>
                  </a:tcPr>
                </a:tc>
                <a:tc>
                  <a:txBody>
                    <a:bodyPr wrap="square"/>
                    <a:lstStyle/>
                    <a:p>
                      <a:pPr algn="ctr"/>
                      <a:r>
                        <a:rPr sz="1700" b="0">
                          <a:solidFill>
                            <a:srgbClr val="12262B"/>
                          </a:solidFill>
                        </a:rPr>
                        <a:t>3 / 4</a:t>
                      </a:r>
                    </a:p>
                  </a:txBody>
                  <a:tcPr anchor="ctr" marL="73152" marR="73152">
                    <a:lnL w="9525">
                      <a:solidFill>
                        <a:srgbClr val="D3E2E0"/>
                      </a:solidFill>
                    </a:lnL>
                    <a:lnR w="9525">
                      <a:solidFill>
                        <a:srgbClr val="D3E2E0"/>
                      </a:solidFill>
                    </a:lnR>
                    <a:lnT w="9525">
                      <a:solidFill>
                        <a:srgbClr val="D3E2E0"/>
                      </a:solidFill>
                    </a:lnT>
                    <a:lnB w="9525">
                      <a:solidFill>
                        <a:srgbClr val="D3E2E0"/>
                      </a:solidFill>
                    </a:lnB>
                    <a:solidFill>
                      <a:srgbClr val="FFFFFF"/>
                    </a:solidFill>
                  </a:tcPr>
                </a:tc>
                <a:tc>
                  <a:txBody>
                    <a:bodyPr wrap="square"/>
                    <a:lstStyle/>
                    <a:p>
                      <a:pPr algn="ctr"/>
                      <a:r>
                        <a:rPr sz="1700" b="0">
                          <a:solidFill>
                            <a:srgbClr val="12262B"/>
                          </a:solidFill>
                        </a:rPr>
                        <a:t>1</a:t>
                      </a:r>
                    </a:p>
                  </a:txBody>
                  <a:tcPr anchor="ctr" marL="73152" marR="73152">
                    <a:lnL w="9525">
                      <a:solidFill>
                        <a:srgbClr val="D3E2E0"/>
                      </a:solidFill>
                    </a:lnL>
                    <a:lnR w="9525">
                      <a:solidFill>
                        <a:srgbClr val="D3E2E0"/>
                      </a:solidFill>
                    </a:lnR>
                    <a:lnT w="9525">
                      <a:solidFill>
                        <a:srgbClr val="D3E2E0"/>
                      </a:solidFill>
                    </a:lnT>
                    <a:lnB w="9525">
                      <a:solidFill>
                        <a:srgbClr val="D3E2E0"/>
                      </a:solidFill>
                    </a:lnB>
                    <a:solidFill>
                      <a:srgbClr val="FFFFFF"/>
                    </a:solidFill>
                  </a:tcPr>
                </a:tc>
                <a:tc>
                  <a:txBody>
                    <a:bodyPr wrap="square"/>
                    <a:lstStyle/>
                    <a:p>
                      <a:pPr algn="ctr"/>
                      <a:r>
                        <a:rPr sz="1700" b="0">
                          <a:solidFill>
                            <a:srgbClr val="12262B"/>
                          </a:solidFill>
                        </a:rPr>
                        <a:t>2</a:t>
                      </a:r>
                    </a:p>
                  </a:txBody>
                  <a:tcPr anchor="ctr" marL="73152" marR="73152">
                    <a:lnL w="9525">
                      <a:solidFill>
                        <a:srgbClr val="D3E2E0"/>
                      </a:solidFill>
                    </a:lnL>
                    <a:lnR w="9525">
                      <a:solidFill>
                        <a:srgbClr val="D3E2E0"/>
                      </a:solidFill>
                    </a:lnR>
                    <a:lnT w="9525">
                      <a:solidFill>
                        <a:srgbClr val="D3E2E0"/>
                      </a:solidFill>
                    </a:lnT>
                    <a:lnB w="9525">
                      <a:solidFill>
                        <a:srgbClr val="D3E2E0"/>
                      </a:solidFill>
                    </a:lnB>
                    <a:solidFill>
                      <a:srgbClr val="FFFFFF"/>
                    </a:solidFill>
                  </a:tcPr>
                </a:tc>
                <a:tc>
                  <a:txBody>
                    <a:bodyPr wrap="square"/>
                    <a:lstStyle/>
                    <a:p>
                      <a:pPr algn="ctr"/>
                      <a:r>
                        <a:rPr sz="1700" b="0">
                          <a:solidFill>
                            <a:srgbClr val="12262B"/>
                          </a:solidFill>
                        </a:rPr>
                        <a:t>2.03</a:t>
                      </a:r>
                    </a:p>
                  </a:txBody>
                  <a:tcPr anchor="ctr" marL="73152" marR="73152">
                    <a:lnL w="9525">
                      <a:solidFill>
                        <a:srgbClr val="D3E2E0"/>
                      </a:solidFill>
                    </a:lnL>
                    <a:lnR w="9525">
                      <a:solidFill>
                        <a:srgbClr val="D3E2E0"/>
                      </a:solidFill>
                    </a:lnR>
                    <a:lnT w="9525">
                      <a:solidFill>
                        <a:srgbClr val="D3E2E0"/>
                      </a:solidFill>
                    </a:lnT>
                    <a:lnB w="9525">
                      <a:solidFill>
                        <a:srgbClr val="D3E2E0"/>
                      </a:solidFill>
                    </a:lnB>
                    <a:solidFill>
                      <a:srgbClr val="FFFFFF"/>
                    </a:solidFill>
                  </a:tcPr>
                </a:tc>
              </a:tr>
              <a:tr h="566928">
                <a:tc>
                  <a:txBody>
                    <a:bodyPr wrap="square"/>
                    <a:lstStyle/>
                    <a:p>
                      <a:pPr algn="l"/>
                      <a:r>
                        <a:rPr sz="1700" b="0">
                          <a:solidFill>
                            <a:srgbClr val="12262B"/>
                          </a:solidFill>
                        </a:rPr>
                        <a:t>AI alarm</a:t>
                      </a:r>
                    </a:p>
                  </a:txBody>
                  <a:tcPr anchor="ctr" marL="73152" marR="73152">
                    <a:lnL w="9525">
                      <a:solidFill>
                        <a:srgbClr val="D3E2E0"/>
                      </a:solidFill>
                    </a:lnL>
                    <a:lnR w="9525">
                      <a:solidFill>
                        <a:srgbClr val="D3E2E0"/>
                      </a:solidFill>
                    </a:lnR>
                    <a:lnT w="9525">
                      <a:solidFill>
                        <a:srgbClr val="D3E2E0"/>
                      </a:solidFill>
                    </a:lnT>
                    <a:lnB w="9525">
                      <a:solidFill>
                        <a:srgbClr val="D3E2E0"/>
                      </a:solidFill>
                    </a:lnB>
                    <a:solidFill>
                      <a:srgbClr val="FFFFFF"/>
                    </a:solidFill>
                  </a:tcPr>
                </a:tc>
                <a:tc>
                  <a:txBody>
                    <a:bodyPr wrap="square"/>
                    <a:lstStyle/>
                    <a:p>
                      <a:pPr algn="ctr"/>
                      <a:r>
                        <a:rPr sz="1700" b="0">
                          <a:solidFill>
                            <a:srgbClr val="12262B"/>
                          </a:solidFill>
                        </a:rPr>
                        <a:t>3 / 4</a:t>
                      </a:r>
                    </a:p>
                  </a:txBody>
                  <a:tcPr anchor="ctr" marL="73152" marR="73152">
                    <a:lnL w="9525">
                      <a:solidFill>
                        <a:srgbClr val="D3E2E0"/>
                      </a:solidFill>
                    </a:lnL>
                    <a:lnR w="9525">
                      <a:solidFill>
                        <a:srgbClr val="D3E2E0"/>
                      </a:solidFill>
                    </a:lnR>
                    <a:lnT w="9525">
                      <a:solidFill>
                        <a:srgbClr val="D3E2E0"/>
                      </a:solidFill>
                    </a:lnT>
                    <a:lnB w="9525">
                      <a:solidFill>
                        <a:srgbClr val="D3E2E0"/>
                      </a:solidFill>
                    </a:lnB>
                    <a:solidFill>
                      <a:srgbClr val="FFFFFF"/>
                    </a:solidFill>
                  </a:tcPr>
                </a:tc>
                <a:tc>
                  <a:txBody>
                    <a:bodyPr wrap="square"/>
                    <a:lstStyle/>
                    <a:p>
                      <a:pPr algn="ctr"/>
                      <a:r>
                        <a:rPr sz="1700" b="0">
                          <a:solidFill>
                            <a:srgbClr val="12262B"/>
                          </a:solidFill>
                        </a:rPr>
                        <a:t>1</a:t>
                      </a:r>
                    </a:p>
                  </a:txBody>
                  <a:tcPr anchor="ctr" marL="73152" marR="73152">
                    <a:lnL w="9525">
                      <a:solidFill>
                        <a:srgbClr val="D3E2E0"/>
                      </a:solidFill>
                    </a:lnL>
                    <a:lnR w="9525">
                      <a:solidFill>
                        <a:srgbClr val="D3E2E0"/>
                      </a:solidFill>
                    </a:lnR>
                    <a:lnT w="9525">
                      <a:solidFill>
                        <a:srgbClr val="D3E2E0"/>
                      </a:solidFill>
                    </a:lnT>
                    <a:lnB w="9525">
                      <a:solidFill>
                        <a:srgbClr val="D3E2E0"/>
                      </a:solidFill>
                    </a:lnB>
                    <a:solidFill>
                      <a:srgbClr val="FFFFFF"/>
                    </a:solidFill>
                  </a:tcPr>
                </a:tc>
                <a:tc>
                  <a:txBody>
                    <a:bodyPr wrap="square"/>
                    <a:lstStyle/>
                    <a:p>
                      <a:pPr algn="ctr"/>
                      <a:r>
                        <a:rPr sz="1700" b="0">
                          <a:solidFill>
                            <a:srgbClr val="12262B"/>
                          </a:solidFill>
                        </a:rPr>
                        <a:t>0</a:t>
                      </a:r>
                    </a:p>
                  </a:txBody>
                  <a:tcPr anchor="ctr" marL="73152" marR="73152">
                    <a:lnL w="9525">
                      <a:solidFill>
                        <a:srgbClr val="D3E2E0"/>
                      </a:solidFill>
                    </a:lnL>
                    <a:lnR w="9525">
                      <a:solidFill>
                        <a:srgbClr val="D3E2E0"/>
                      </a:solidFill>
                    </a:lnR>
                    <a:lnT w="9525">
                      <a:solidFill>
                        <a:srgbClr val="D3E2E0"/>
                      </a:solidFill>
                    </a:lnT>
                    <a:lnB w="9525">
                      <a:solidFill>
                        <a:srgbClr val="D3E2E0"/>
                      </a:solidFill>
                    </a:lnB>
                    <a:solidFill>
                      <a:srgbClr val="FFFFFF"/>
                    </a:solidFill>
                  </a:tcPr>
                </a:tc>
                <a:tc>
                  <a:txBody>
                    <a:bodyPr wrap="square"/>
                    <a:lstStyle/>
                    <a:p>
                      <a:pPr algn="ctr"/>
                      <a:r>
                        <a:rPr sz="1700" b="0">
                          <a:solidFill>
                            <a:srgbClr val="12262B"/>
                          </a:solidFill>
                        </a:rPr>
                        <a:t>1.61</a:t>
                      </a:r>
                    </a:p>
                  </a:txBody>
                  <a:tcPr anchor="ctr" marL="73152" marR="73152">
                    <a:lnL w="9525">
                      <a:solidFill>
                        <a:srgbClr val="D3E2E0"/>
                      </a:solidFill>
                    </a:lnL>
                    <a:lnR w="9525">
                      <a:solidFill>
                        <a:srgbClr val="D3E2E0"/>
                      </a:solidFill>
                    </a:lnR>
                    <a:lnT w="9525">
                      <a:solidFill>
                        <a:srgbClr val="D3E2E0"/>
                      </a:solidFill>
                    </a:lnT>
                    <a:lnB w="9525">
                      <a:solidFill>
                        <a:srgbClr val="D3E2E0"/>
                      </a:solidFill>
                    </a:lnB>
                    <a:solidFill>
                      <a:srgbClr val="FFFFFF"/>
                    </a:solidFill>
                  </a:tcPr>
                </a:tc>
              </a:tr>
              <a:tr h="566928">
                <a:tc>
                  <a:txBody>
                    <a:bodyPr wrap="square"/>
                    <a:lstStyle/>
                    <a:p>
                      <a:pPr algn="l"/>
                      <a:r>
                        <a:rPr sz="1700" b="1">
                          <a:solidFill>
                            <a:srgbClr val="12262B"/>
                          </a:solidFill>
                        </a:rPr>
                        <a:t>Physics OR AI alarm</a:t>
                      </a:r>
                    </a:p>
                  </a:txBody>
                  <a:tcPr anchor="ctr" marL="73152" marR="73152">
                    <a:lnL w="9525">
                      <a:solidFill>
                        <a:srgbClr val="D3E2E0"/>
                      </a:solidFill>
                    </a:lnL>
                    <a:lnR w="9525">
                      <a:solidFill>
                        <a:srgbClr val="D3E2E0"/>
                      </a:solidFill>
                    </a:lnR>
                    <a:lnT w="9525">
                      <a:solidFill>
                        <a:srgbClr val="D3E2E0"/>
                      </a:solidFill>
                    </a:lnT>
                    <a:lnB w="9525">
                      <a:solidFill>
                        <a:srgbClr val="D3E2E0"/>
                      </a:solidFill>
                    </a:lnB>
                    <a:solidFill>
                      <a:srgbClr val="FDE9E4"/>
                    </a:solidFill>
                  </a:tcPr>
                </a:tc>
                <a:tc>
                  <a:txBody>
                    <a:bodyPr wrap="square"/>
                    <a:lstStyle/>
                    <a:p>
                      <a:pPr algn="ctr"/>
                      <a:r>
                        <a:rPr sz="1700" b="1">
                          <a:solidFill>
                            <a:srgbClr val="12262B"/>
                          </a:solidFill>
                        </a:rPr>
                        <a:t>4 / 4</a:t>
                      </a:r>
                    </a:p>
                  </a:txBody>
                  <a:tcPr anchor="ctr" marL="73152" marR="73152">
                    <a:lnL w="9525">
                      <a:solidFill>
                        <a:srgbClr val="D3E2E0"/>
                      </a:solidFill>
                    </a:lnL>
                    <a:lnR w="9525">
                      <a:solidFill>
                        <a:srgbClr val="D3E2E0"/>
                      </a:solidFill>
                    </a:lnR>
                    <a:lnT w="9525">
                      <a:solidFill>
                        <a:srgbClr val="D3E2E0"/>
                      </a:solidFill>
                    </a:lnT>
                    <a:lnB w="9525">
                      <a:solidFill>
                        <a:srgbClr val="D3E2E0"/>
                      </a:solidFill>
                    </a:lnB>
                    <a:solidFill>
                      <a:srgbClr val="FDE9E4"/>
                    </a:solidFill>
                  </a:tcPr>
                </a:tc>
                <a:tc>
                  <a:txBody>
                    <a:bodyPr wrap="square"/>
                    <a:lstStyle/>
                    <a:p>
                      <a:pPr algn="ctr"/>
                      <a:r>
                        <a:rPr sz="1700" b="1">
                          <a:solidFill>
                            <a:srgbClr val="12262B"/>
                          </a:solidFill>
                        </a:rPr>
                        <a:t>0</a:t>
                      </a:r>
                    </a:p>
                  </a:txBody>
                  <a:tcPr anchor="ctr" marL="73152" marR="73152">
                    <a:lnL w="9525">
                      <a:solidFill>
                        <a:srgbClr val="D3E2E0"/>
                      </a:solidFill>
                    </a:lnL>
                    <a:lnR w="9525">
                      <a:solidFill>
                        <a:srgbClr val="D3E2E0"/>
                      </a:solidFill>
                    </a:lnR>
                    <a:lnT w="9525">
                      <a:solidFill>
                        <a:srgbClr val="D3E2E0"/>
                      </a:solidFill>
                    </a:lnT>
                    <a:lnB w="9525">
                      <a:solidFill>
                        <a:srgbClr val="D3E2E0"/>
                      </a:solidFill>
                    </a:lnB>
                    <a:solidFill>
                      <a:srgbClr val="FDE9E4"/>
                    </a:solidFill>
                  </a:tcPr>
                </a:tc>
                <a:tc>
                  <a:txBody>
                    <a:bodyPr wrap="square"/>
                    <a:lstStyle/>
                    <a:p>
                      <a:pPr algn="ctr"/>
                      <a:r>
                        <a:rPr sz="1700" b="1">
                          <a:solidFill>
                            <a:srgbClr val="12262B"/>
                          </a:solidFill>
                        </a:rPr>
                        <a:t>2</a:t>
                      </a:r>
                    </a:p>
                  </a:txBody>
                  <a:tcPr anchor="ctr" marL="73152" marR="73152">
                    <a:lnL w="9525">
                      <a:solidFill>
                        <a:srgbClr val="D3E2E0"/>
                      </a:solidFill>
                    </a:lnL>
                    <a:lnR w="9525">
                      <a:solidFill>
                        <a:srgbClr val="D3E2E0"/>
                      </a:solidFill>
                    </a:lnR>
                    <a:lnT w="9525">
                      <a:solidFill>
                        <a:srgbClr val="D3E2E0"/>
                      </a:solidFill>
                    </a:lnT>
                    <a:lnB w="9525">
                      <a:solidFill>
                        <a:srgbClr val="D3E2E0"/>
                      </a:solidFill>
                    </a:lnB>
                    <a:solidFill>
                      <a:srgbClr val="FDE9E4"/>
                    </a:solidFill>
                  </a:tcPr>
                </a:tc>
                <a:tc>
                  <a:txBody>
                    <a:bodyPr wrap="square"/>
                    <a:lstStyle/>
                    <a:p>
                      <a:pPr algn="ctr"/>
                      <a:r>
                        <a:rPr sz="1700" b="1">
                          <a:solidFill>
                            <a:srgbClr val="12262B"/>
                          </a:solidFill>
                        </a:rPr>
                        <a:t>0.82</a:t>
                      </a:r>
                    </a:p>
                  </a:txBody>
                  <a:tcPr anchor="ctr" marL="73152" marR="73152">
                    <a:lnL w="9525">
                      <a:solidFill>
                        <a:srgbClr val="D3E2E0"/>
                      </a:solidFill>
                    </a:lnL>
                    <a:lnR w="9525">
                      <a:solidFill>
                        <a:srgbClr val="D3E2E0"/>
                      </a:solidFill>
                    </a:lnR>
                    <a:lnT w="9525">
                      <a:solidFill>
                        <a:srgbClr val="D3E2E0"/>
                      </a:solidFill>
                    </a:lnT>
                    <a:lnB w="9525">
                      <a:solidFill>
                        <a:srgbClr val="D3E2E0"/>
                      </a:solidFill>
                    </a:lnB>
                    <a:solidFill>
                      <a:srgbClr val="FDE9E4"/>
                    </a:solidFill>
                  </a:tcPr>
                </a:tc>
              </a:tr>
              <a:tr h="566928">
                <a:tc>
                  <a:txBody>
                    <a:bodyPr wrap="square"/>
                    <a:lstStyle/>
                    <a:p>
                      <a:pPr algn="l"/>
                      <a:r>
                        <a:rPr sz="1700" b="0">
                          <a:solidFill>
                            <a:srgbClr val="12262B"/>
                          </a:solidFill>
                        </a:rPr>
                        <a:t>Oracle (knows the future)</a:t>
                      </a:r>
                    </a:p>
                  </a:txBody>
                  <a:tcPr anchor="ctr" marL="73152" marR="73152">
                    <a:lnL w="9525">
                      <a:solidFill>
                        <a:srgbClr val="D3E2E0"/>
                      </a:solidFill>
                    </a:lnL>
                    <a:lnR w="9525">
                      <a:solidFill>
                        <a:srgbClr val="D3E2E0"/>
                      </a:solidFill>
                    </a:lnR>
                    <a:lnT w="9525">
                      <a:solidFill>
                        <a:srgbClr val="D3E2E0"/>
                      </a:solidFill>
                    </a:lnT>
                    <a:lnB w="9525">
                      <a:solidFill>
                        <a:srgbClr val="D3E2E0"/>
                      </a:solidFill>
                    </a:lnB>
                    <a:solidFill>
                      <a:srgbClr val="FFFFFF"/>
                    </a:solidFill>
                  </a:tcPr>
                </a:tc>
                <a:tc>
                  <a:txBody>
                    <a:bodyPr wrap="square"/>
                    <a:lstStyle/>
                    <a:p>
                      <a:pPr algn="ctr"/>
                      <a:r>
                        <a:rPr sz="1700" b="0">
                          <a:solidFill>
                            <a:srgbClr val="12262B"/>
                          </a:solidFill>
                        </a:rPr>
                        <a:t>4 / 4</a:t>
                      </a:r>
                    </a:p>
                  </a:txBody>
                  <a:tcPr anchor="ctr" marL="73152" marR="73152">
                    <a:lnL w="9525">
                      <a:solidFill>
                        <a:srgbClr val="D3E2E0"/>
                      </a:solidFill>
                    </a:lnL>
                    <a:lnR w="9525">
                      <a:solidFill>
                        <a:srgbClr val="D3E2E0"/>
                      </a:solidFill>
                    </a:lnR>
                    <a:lnT w="9525">
                      <a:solidFill>
                        <a:srgbClr val="D3E2E0"/>
                      </a:solidFill>
                    </a:lnT>
                    <a:lnB w="9525">
                      <a:solidFill>
                        <a:srgbClr val="D3E2E0"/>
                      </a:solidFill>
                    </a:lnB>
                    <a:solidFill>
                      <a:srgbClr val="FFFFFF"/>
                    </a:solidFill>
                  </a:tcPr>
                </a:tc>
                <a:tc>
                  <a:txBody>
                    <a:bodyPr wrap="square"/>
                    <a:lstStyle/>
                    <a:p>
                      <a:pPr algn="ctr"/>
                      <a:r>
                        <a:rPr sz="1700" b="0">
                          <a:solidFill>
                            <a:srgbClr val="12262B"/>
                          </a:solidFill>
                        </a:rPr>
                        <a:t>0</a:t>
                      </a:r>
                    </a:p>
                  </a:txBody>
                  <a:tcPr anchor="ctr" marL="73152" marR="73152">
                    <a:lnL w="9525">
                      <a:solidFill>
                        <a:srgbClr val="D3E2E0"/>
                      </a:solidFill>
                    </a:lnL>
                    <a:lnR w="9525">
                      <a:solidFill>
                        <a:srgbClr val="D3E2E0"/>
                      </a:solidFill>
                    </a:lnR>
                    <a:lnT w="9525">
                      <a:solidFill>
                        <a:srgbClr val="D3E2E0"/>
                      </a:solidFill>
                    </a:lnT>
                    <a:lnB w="9525">
                      <a:solidFill>
                        <a:srgbClr val="D3E2E0"/>
                      </a:solidFill>
                    </a:lnB>
                    <a:solidFill>
                      <a:srgbClr val="FFFFFF"/>
                    </a:solidFill>
                  </a:tcPr>
                </a:tc>
                <a:tc>
                  <a:txBody>
                    <a:bodyPr wrap="square"/>
                    <a:lstStyle/>
                    <a:p>
                      <a:pPr algn="ctr"/>
                      <a:r>
                        <a:rPr sz="1700" b="0">
                          <a:solidFill>
                            <a:srgbClr val="12262B"/>
                          </a:solidFill>
                        </a:rPr>
                        <a:t>0</a:t>
                      </a:r>
                    </a:p>
                  </a:txBody>
                  <a:tcPr anchor="ctr" marL="73152" marR="73152">
                    <a:lnL w="9525">
                      <a:solidFill>
                        <a:srgbClr val="D3E2E0"/>
                      </a:solidFill>
                    </a:lnL>
                    <a:lnR w="9525">
                      <a:solidFill>
                        <a:srgbClr val="D3E2E0"/>
                      </a:solidFill>
                    </a:lnR>
                    <a:lnT w="9525">
                      <a:solidFill>
                        <a:srgbClr val="D3E2E0"/>
                      </a:solidFill>
                    </a:lnT>
                    <a:lnB w="9525">
                      <a:solidFill>
                        <a:srgbClr val="D3E2E0"/>
                      </a:solidFill>
                    </a:lnB>
                    <a:solidFill>
                      <a:srgbClr val="FFFFFF"/>
                    </a:solidFill>
                  </a:tcPr>
                </a:tc>
                <a:tc>
                  <a:txBody>
                    <a:bodyPr wrap="square"/>
                    <a:lstStyle/>
                    <a:p>
                      <a:pPr algn="ctr"/>
                      <a:r>
                        <a:rPr sz="1700" b="0">
                          <a:solidFill>
                            <a:srgbClr val="12262B"/>
                          </a:solidFill>
                        </a:rPr>
                        <a:t>0.48</a:t>
                      </a:r>
                    </a:p>
                  </a:txBody>
                  <a:tcPr anchor="ctr" marL="73152" marR="73152">
                    <a:lnL w="9525">
                      <a:solidFill>
                        <a:srgbClr val="D3E2E0"/>
                      </a:solidFill>
                    </a:lnL>
                    <a:lnR w="9525">
                      <a:solidFill>
                        <a:srgbClr val="D3E2E0"/>
                      </a:solidFill>
                    </a:lnR>
                    <a:lnT w="9525">
                      <a:solidFill>
                        <a:srgbClr val="D3E2E0"/>
                      </a:solidFill>
                    </a:lnT>
                    <a:lnB w="9525">
                      <a:solidFill>
                        <a:srgbClr val="D3E2E0"/>
                      </a:solidFill>
                    </a:lnB>
                    <a:solidFill>
                      <a:srgbClr val="FFFFFF"/>
                    </a:solidFill>
                  </a:tcPr>
                </a:tc>
              </a:tr>
            </a:tbl>
          </a:graphicData>
        </a:graphic>
      </p:graphicFrame>
      <p:sp>
        <p:nvSpPr>
          <p:cNvPr id="27" name="TextBox 26"/>
          <p:cNvSpPr txBox="1"/>
          <p:nvPr/>
        </p:nvSpPr>
        <p:spPr>
          <a:xfrm>
            <a:off x="548640" y="5532120"/>
            <a:ext cx="8138160" cy="640080"/>
          </a:xfrm>
          <a:prstGeom prst="rect">
            <a:avLst/>
          </a:prstGeom>
          <a:noFill/>
        </p:spPr>
        <p:txBody>
          <a:bodyPr wrap="square" anchor="t" lIns="0" rIns="0" tIns="0" bIns="0">
            <a:spAutoFit/>
          </a:bodyPr>
          <a:lstStyle/>
          <a:p>
            <a:pPr algn="l">
              <a:spcAft>
                <a:spcPts val="600"/>
              </a:spcAft>
            </a:pPr>
            <a:r>
              <a:rPr sz="1300" b="0">
                <a:solidFill>
                  <a:srgbClr val="5E6E70"/>
                </a:solidFill>
              </a:rPr>
              <a:t>*Best fixed interval chosen with hindsight (just before set 1 ends). Planned replacement = 1, breakdown = 10, lead time 24 h.</a:t>
            </a:r>
          </a:p>
        </p:txBody>
      </p:sp>
      <p:sp>
        <p:nvSpPr>
          <p:cNvPr id="28" name="stat 4 / 4"/>
          <p:cNvSpPr txBox="1"/>
          <p:nvPr/>
        </p:nvSpPr>
        <p:spPr>
          <a:xfrm>
            <a:off x="9052560" y="1280160"/>
            <a:ext cx="2560320" cy="777240"/>
          </a:xfrm>
          <a:prstGeom prst="rect">
            <a:avLst/>
          </a:prstGeom>
          <a:noFill/>
        </p:spPr>
        <p:txBody>
          <a:bodyPr wrap="square" anchor="t" lIns="0" rIns="0" tIns="0" bIns="0">
            <a:spAutoFit/>
          </a:bodyPr>
          <a:lstStyle/>
          <a:p>
            <a:pPr algn="l">
              <a:spcAft>
                <a:spcPts val="600"/>
              </a:spcAft>
            </a:pPr>
            <a:r>
              <a:rPr sz="4400" b="1">
                <a:solidFill>
                  <a:srgbClr val="3E9B5F"/>
                </a:solidFill>
              </a:rPr>
              <a:t>4 / 4</a:t>
            </a:r>
          </a:p>
        </p:txBody>
      </p:sp>
      <p:sp>
        <p:nvSpPr>
          <p:cNvPr id="29" name="TextBox 28"/>
          <p:cNvSpPr txBox="1"/>
          <p:nvPr/>
        </p:nvSpPr>
        <p:spPr>
          <a:xfrm>
            <a:off x="9052560" y="2057400"/>
            <a:ext cx="2560320" cy="640080"/>
          </a:xfrm>
          <a:prstGeom prst="rect">
            <a:avLst/>
          </a:prstGeom>
          <a:noFill/>
        </p:spPr>
        <p:txBody>
          <a:bodyPr wrap="square" anchor="t" lIns="0" rIns="0" tIns="0" bIns="0">
            <a:spAutoFit/>
          </a:bodyPr>
          <a:lstStyle/>
          <a:p>
            <a:pPr algn="l">
              <a:spcAft>
                <a:spcPts val="600"/>
              </a:spcAft>
            </a:pPr>
            <a:r>
              <a:rPr sz="1500" b="0">
                <a:solidFill>
                  <a:srgbClr val="5E6E70"/>
                </a:solidFill>
              </a:rPr>
              <a:t>failures caught, 0 breakdowns</a:t>
            </a:r>
          </a:p>
        </p:txBody>
      </p:sp>
      <p:sp>
        <p:nvSpPr>
          <p:cNvPr id="30" name="stat 6×"/>
          <p:cNvSpPr txBox="1"/>
          <p:nvPr/>
        </p:nvSpPr>
        <p:spPr>
          <a:xfrm>
            <a:off x="9052560" y="2880360"/>
            <a:ext cx="2560320" cy="777240"/>
          </a:xfrm>
          <a:prstGeom prst="rect">
            <a:avLst/>
          </a:prstGeom>
          <a:noFill/>
        </p:spPr>
        <p:txBody>
          <a:bodyPr wrap="square" anchor="t" lIns="0" rIns="0" tIns="0" bIns="0">
            <a:spAutoFit/>
          </a:bodyPr>
          <a:lstStyle/>
          <a:p>
            <a:pPr algn="l">
              <a:spcAft>
                <a:spcPts val="600"/>
              </a:spcAft>
            </a:pPr>
            <a:r>
              <a:rPr sz="4400" b="1">
                <a:solidFill>
                  <a:srgbClr val="F26B4F"/>
                </a:solidFill>
              </a:rPr>
              <a:t>6×</a:t>
            </a:r>
          </a:p>
        </p:txBody>
      </p:sp>
      <p:sp>
        <p:nvSpPr>
          <p:cNvPr id="31" name="TextBox 30"/>
          <p:cNvSpPr txBox="1"/>
          <p:nvPr/>
        </p:nvSpPr>
        <p:spPr>
          <a:xfrm>
            <a:off x="9052560" y="3657600"/>
            <a:ext cx="2560320" cy="640080"/>
          </a:xfrm>
          <a:prstGeom prst="rect">
            <a:avLst/>
          </a:prstGeom>
          <a:noFill/>
        </p:spPr>
        <p:txBody>
          <a:bodyPr wrap="square" anchor="t" lIns="0" rIns="0" tIns="0" bIns="0">
            <a:spAutoFit/>
          </a:bodyPr>
          <a:lstStyle/>
          <a:p>
            <a:pPr algn="l">
              <a:spcAft>
                <a:spcPts val="600"/>
              </a:spcAft>
            </a:pPr>
            <a:r>
              <a:rPr sz="1500" b="0">
                <a:solidFill>
                  <a:srgbClr val="5E6E70"/>
                </a:solidFill>
              </a:rPr>
              <a:t>cheaper than reactive (0.82 vs 4.84)</a:t>
            </a:r>
          </a:p>
        </p:txBody>
      </p:sp>
      <p:sp>
        <p:nvSpPr>
          <p:cNvPr id="32" name="stat 2 / 8"/>
          <p:cNvSpPr txBox="1"/>
          <p:nvPr/>
        </p:nvSpPr>
        <p:spPr>
          <a:xfrm>
            <a:off x="9052560" y="4480560"/>
            <a:ext cx="2560320" cy="777240"/>
          </a:xfrm>
          <a:prstGeom prst="rect">
            <a:avLst/>
          </a:prstGeom>
          <a:noFill/>
        </p:spPr>
        <p:txBody>
          <a:bodyPr wrap="square" anchor="t" lIns="0" rIns="0" tIns="0" bIns="0">
            <a:spAutoFit/>
          </a:bodyPr>
          <a:lstStyle/>
          <a:p>
            <a:pPr algn="l">
              <a:spcAft>
                <a:spcPts val="600"/>
              </a:spcAft>
            </a:pPr>
            <a:r>
              <a:rPr sz="4400" b="1">
                <a:solidFill>
                  <a:srgbClr val="12262B"/>
                </a:solidFill>
              </a:rPr>
              <a:t>2 / 8</a:t>
            </a:r>
          </a:p>
        </p:txBody>
      </p:sp>
      <p:sp>
        <p:nvSpPr>
          <p:cNvPr id="33" name="TextBox 32"/>
          <p:cNvSpPr txBox="1"/>
          <p:nvPr/>
        </p:nvSpPr>
        <p:spPr>
          <a:xfrm>
            <a:off x="9052560" y="5257800"/>
            <a:ext cx="2560320" cy="640080"/>
          </a:xfrm>
          <a:prstGeom prst="rect">
            <a:avLst/>
          </a:prstGeom>
          <a:noFill/>
        </p:spPr>
        <p:txBody>
          <a:bodyPr wrap="square" anchor="t" lIns="0" rIns="0" tIns="0" bIns="0">
            <a:spAutoFit/>
          </a:bodyPr>
          <a:lstStyle/>
          <a:p>
            <a:pPr algn="l">
              <a:spcAft>
                <a:spcPts val="600"/>
              </a:spcAft>
            </a:pPr>
            <a:r>
              <a:rPr sz="1500" b="0">
                <a:solidFill>
                  <a:srgbClr val="5E6E70"/>
                </a:solidFill>
              </a:rPr>
              <a:t>needless replacements, both from the physics alarm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r>
              <a:t>Acting on either alarm pays above 2× breakdown cost</a:t>
            </a:r>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A9B"/>
                </a:solidFill>
              </a:defRPr>
            </a:lvl1pPr>
          </a:lstStyle>
          <a:p>
            <a:pPr algn="r"/>
            <a:fld id="{F7021451-1387-4CA6-816F-3879F97B5CBC}" type="slidenum">
              <a:rPr b="0" lang="en-US"/>
              <a:t>2</a:t>
            </a:fld>
            <a:endParaRPr lang="en-US"/>
          </a:p>
        </p:txBody>
      </p:sp>
      <p:graphicFrame>
        <p:nvGraphicFramePr>
          <p:cNvPr id="26" name="Chart 25"/>
          <p:cNvGraphicFramePr>
            <a:graphicFrameLocks noGrp="1"/>
          </p:cNvGraphicFramePr>
          <p:nvPr/>
        </p:nvGraphicFramePr>
        <p:xfrm>
          <a:off x="548640" y="1234440"/>
          <a:ext cx="8138160" cy="4983480"/>
        </p:xfrm>
        <a:graphic>
          <a:graphicData uri="http://schemas.openxmlformats.org/drawingml/2006/chart">
            <c:chart xmlns:c="http://schemas.openxmlformats.org/drawingml/2006/chart" r:id="rId3"/>
          </a:graphicData>
        </a:graphic>
      </p:graphicFrame>
      <p:sp>
        <p:nvSpPr>
          <p:cNvPr id="27" name="stat &gt; 2×"/>
          <p:cNvSpPr txBox="1"/>
          <p:nvPr/>
        </p:nvSpPr>
        <p:spPr>
          <a:xfrm>
            <a:off x="9052560" y="1280160"/>
            <a:ext cx="2560320" cy="777240"/>
          </a:xfrm>
          <a:prstGeom prst="rect">
            <a:avLst/>
          </a:prstGeom>
          <a:noFill/>
        </p:spPr>
        <p:txBody>
          <a:bodyPr wrap="square" anchor="t" lIns="0" rIns="0" tIns="0" bIns="0">
            <a:spAutoFit/>
          </a:bodyPr>
          <a:lstStyle/>
          <a:p>
            <a:pPr algn="l">
              <a:spcAft>
                <a:spcPts val="600"/>
              </a:spcAft>
            </a:pPr>
            <a:r>
              <a:rPr sz="4400" b="1">
                <a:solidFill>
                  <a:srgbClr val="F26B4F"/>
                </a:solidFill>
              </a:rPr>
              <a:t>&gt; 2×</a:t>
            </a:r>
          </a:p>
        </p:txBody>
      </p:sp>
      <p:sp>
        <p:nvSpPr>
          <p:cNvPr id="28" name="TextBox 27"/>
          <p:cNvSpPr txBox="1"/>
          <p:nvPr/>
        </p:nvSpPr>
        <p:spPr>
          <a:xfrm>
            <a:off x="9052560" y="2057400"/>
            <a:ext cx="2560320" cy="640080"/>
          </a:xfrm>
          <a:prstGeom prst="rect">
            <a:avLst/>
          </a:prstGeom>
          <a:noFill/>
        </p:spPr>
        <p:txBody>
          <a:bodyPr wrap="square" anchor="t" lIns="0" rIns="0" tIns="0" bIns="0">
            <a:spAutoFit/>
          </a:bodyPr>
          <a:lstStyle/>
          <a:p>
            <a:pPr algn="l">
              <a:spcAft>
                <a:spcPts val="600"/>
              </a:spcAft>
            </a:pPr>
            <a:r>
              <a:rPr sz="1500" b="0">
                <a:solidFill>
                  <a:srgbClr val="5E6E70"/>
                </a:solidFill>
              </a:rPr>
              <a:t>breakdown cost where acting on either alarm beats reactive</a:t>
            </a:r>
          </a:p>
        </p:txBody>
      </p:sp>
      <p:sp>
        <p:nvSpPr>
          <p:cNvPr id="29" name="curve note"/>
          <p:cNvSpPr/>
          <p:nvPr/>
        </p:nvSpPr>
        <p:spPr>
          <a:xfrm>
            <a:off x="9052560" y="3017520"/>
            <a:ext cx="2560320" cy="3017520"/>
          </a:xfrm>
          <a:prstGeom prst="roundRect">
            <a:avLst>
              <a:gd name="adj" fmla="val 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235440" y="3154680"/>
            <a:ext cx="2194560" cy="2834640"/>
          </a:xfrm>
          <a:prstGeom prst="rect">
            <a:avLst/>
          </a:prstGeom>
          <a:noFill/>
        </p:spPr>
        <p:txBody>
          <a:bodyPr wrap="square" anchor="t" lIns="0" rIns="0" tIns="0" bIns="0">
            <a:spAutoFit/>
          </a:bodyPr>
          <a:lstStyle/>
          <a:p>
            <a:pPr algn="l">
              <a:spcAft>
                <a:spcPts val="600"/>
              </a:spcAft>
            </a:pPr>
            <a:r>
              <a:rPr sz="1800" b="1">
                <a:solidFill>
                  <a:srgbClr val="12262B"/>
                </a:solidFill>
              </a:rPr>
              <a:t>Reading the chart</a:t>
            </a:r>
          </a:p>
          <a:p>
            <a:pPr algn="l">
              <a:spcAft>
                <a:spcPts val="600"/>
              </a:spcAft>
            </a:pPr>
            <a:r>
              <a:rPr sz="1500" b="0">
                <a:solidFill>
                  <a:srgbClr val="12262B"/>
                </a:solidFill>
              </a:rPr>
              <a:t>Flat coral line: no breakdowns, so cost doesn't grow</a:t>
            </a:r>
          </a:p>
          <a:p>
            <a:pPr algn="l">
              <a:spcAft>
                <a:spcPts val="600"/>
              </a:spcAft>
            </a:pPr>
            <a:r>
              <a:rPr sz="1500" b="0">
                <a:solidFill>
                  <a:srgbClr val="12262B"/>
                </a:solidFill>
              </a:rPr>
              <a:t>Up to ~3×: the AI alarm alone is cheapest (no false alarms)</a:t>
            </a:r>
          </a:p>
          <a:p>
            <a:pPr algn="l">
              <a:spcAft>
                <a:spcPts val="600"/>
              </a:spcAft>
            </a:pPr>
            <a:r>
              <a:rPr sz="1500" b="0">
                <a:solidFill>
                  <a:srgbClr val="5E6E70"/>
                </a:solidFill>
              </a:rPr>
              <a:t>Grey flattens only through hindsight tuning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r>
              <a:t>The crew must replace the bearing within about 2 days</a:t>
            </a:r>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A9B"/>
                </a:solidFill>
              </a:defRPr>
            </a:lvl1pPr>
          </a:lstStyle>
          <a:p>
            <a:pPr algn="r"/>
            <a:fld id="{F7021451-1387-4CA6-816F-3879F97B5CBC}" type="slidenum">
              <a:rPr b="0" lang="en-US"/>
              <a:t>2</a:t>
            </a:fld>
            <a:endParaRPr lang="en-US"/>
          </a:p>
        </p:txBody>
      </p:sp>
      <p:graphicFrame>
        <p:nvGraphicFramePr>
          <p:cNvPr id="26" name="Chart 25"/>
          <p:cNvGraphicFramePr>
            <a:graphicFrameLocks noGrp="1"/>
          </p:cNvGraphicFramePr>
          <p:nvPr/>
        </p:nvGraphicFramePr>
        <p:xfrm>
          <a:off x="548640" y="1234440"/>
          <a:ext cx="8138160" cy="4983480"/>
        </p:xfrm>
        <a:graphic>
          <a:graphicData uri="http://schemas.openxmlformats.org/drawingml/2006/chart">
            <c:chart xmlns:c="http://schemas.openxmlformats.org/drawingml/2006/chart" r:id="rId3"/>
          </a:graphicData>
        </a:graphic>
      </p:graphicFrame>
      <p:sp>
        <p:nvSpPr>
          <p:cNvPr id="27" name="stat ≤ 48 h"/>
          <p:cNvSpPr txBox="1"/>
          <p:nvPr/>
        </p:nvSpPr>
        <p:spPr>
          <a:xfrm>
            <a:off x="9052560" y="1280160"/>
            <a:ext cx="2560320" cy="777240"/>
          </a:xfrm>
          <a:prstGeom prst="rect">
            <a:avLst/>
          </a:prstGeom>
          <a:noFill/>
        </p:spPr>
        <p:txBody>
          <a:bodyPr wrap="square" anchor="t" lIns="0" rIns="0" tIns="0" bIns="0">
            <a:spAutoFit/>
          </a:bodyPr>
          <a:lstStyle/>
          <a:p>
            <a:pPr algn="l">
              <a:spcAft>
                <a:spcPts val="600"/>
              </a:spcAft>
            </a:pPr>
            <a:r>
              <a:rPr sz="4400" b="1">
                <a:solidFill>
                  <a:srgbClr val="F26B4F"/>
                </a:solidFill>
              </a:rPr>
              <a:t>≤ 48 h</a:t>
            </a:r>
          </a:p>
        </p:txBody>
      </p:sp>
      <p:sp>
        <p:nvSpPr>
          <p:cNvPr id="28" name="TextBox 27"/>
          <p:cNvSpPr txBox="1"/>
          <p:nvPr/>
        </p:nvSpPr>
        <p:spPr>
          <a:xfrm>
            <a:off x="9052560" y="2057400"/>
            <a:ext cx="2560320" cy="640080"/>
          </a:xfrm>
          <a:prstGeom prst="rect">
            <a:avLst/>
          </a:prstGeom>
          <a:noFill/>
        </p:spPr>
        <p:txBody>
          <a:bodyPr wrap="square" anchor="t" lIns="0" rIns="0" tIns="0" bIns="0">
            <a:spAutoFit/>
          </a:bodyPr>
          <a:lstStyle/>
          <a:p>
            <a:pPr algn="l">
              <a:spcAft>
                <a:spcPts val="600"/>
              </a:spcAft>
            </a:pPr>
            <a:r>
              <a:rPr sz="1500" b="0">
                <a:solidFill>
                  <a:srgbClr val="5E6E70"/>
                </a:solidFill>
              </a:rPr>
              <a:t>lead time where acting on either alarm catches all 4</a:t>
            </a:r>
          </a:p>
        </p:txBody>
      </p:sp>
      <p:sp>
        <p:nvSpPr>
          <p:cNvPr id="29" name="lead note"/>
          <p:cNvSpPr/>
          <p:nvPr/>
        </p:nvSpPr>
        <p:spPr>
          <a:xfrm>
            <a:off x="9052560" y="3017520"/>
            <a:ext cx="2560320" cy="2651760"/>
          </a:xfrm>
          <a:prstGeom prst="roundRect">
            <a:avLst>
              <a:gd name="adj" fmla="val 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235440" y="3154680"/>
            <a:ext cx="2194560" cy="2468880"/>
          </a:xfrm>
          <a:prstGeom prst="rect">
            <a:avLst/>
          </a:prstGeom>
          <a:noFill/>
        </p:spPr>
        <p:txBody>
          <a:bodyPr wrap="square" anchor="t" lIns="0" rIns="0" tIns="0" bIns="0">
            <a:spAutoFit/>
          </a:bodyPr>
          <a:lstStyle/>
          <a:p>
            <a:pPr algn="l">
              <a:spcAft>
                <a:spcPts val="600"/>
              </a:spcAft>
            </a:pPr>
            <a:r>
              <a:rPr sz="1800" b="1">
                <a:solidFill>
                  <a:srgbClr val="12262B"/>
                </a:solidFill>
              </a:rPr>
              <a:t>At default thresholds</a:t>
            </a:r>
          </a:p>
          <a:p>
            <a:pPr algn="l">
              <a:spcAft>
                <a:spcPts val="600"/>
              </a:spcAft>
            </a:pPr>
            <a:r>
              <a:rPr sz="1500" b="0">
                <a:solidFill>
                  <a:srgbClr val="12262B"/>
                </a:solidFill>
              </a:rPr>
              <a:t>≤ 8 h: physics alone is enough</a:t>
            </a:r>
          </a:p>
          <a:p>
            <a:pPr algn="l">
              <a:spcAft>
                <a:spcPts val="600"/>
              </a:spcAft>
            </a:pPr>
            <a:r>
              <a:rPr sz="1500" b="0">
                <a:solidFill>
                  <a:srgbClr val="12262B"/>
                </a:solidFill>
              </a:rPr>
              <a:t>12-48 h: only physics OR AI catches all 4</a:t>
            </a:r>
          </a:p>
          <a:p>
            <a:pPr algn="l">
              <a:spcAft>
                <a:spcPts val="600"/>
              </a:spcAft>
            </a:pPr>
            <a:r>
              <a:rPr sz="1500" b="0">
                <a:solidFill>
                  <a:srgbClr val="12262B"/>
                </a:solidFill>
              </a:rPr>
              <a:t>72 h: each rule catches only 1 of 4</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r>
              <a:t>Robustness: either alarm catches all 4 in every setting tried</a:t>
            </a:r>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A9B"/>
                </a:solidFill>
              </a:defRPr>
            </a:lvl1pPr>
          </a:lstStyle>
          <a:p>
            <a:pPr algn="r"/>
            <a:fld id="{F7021451-1387-4CA6-816F-3879F97B5CBC}" type="slidenum">
              <a:rPr b="0" lang="en-US"/>
              <a:t>2</a:t>
            </a:fld>
            <a:endParaRPr lang="en-US"/>
          </a:p>
        </p:txBody>
      </p:sp>
      <p:graphicFrame>
        <p:nvGraphicFramePr>
          <p:cNvPr id="26" name="Table 25"/>
          <p:cNvGraphicFramePr>
            <a:graphicFrameLocks noGrp="1"/>
          </p:cNvGraphicFramePr>
          <p:nvPr/>
        </p:nvGraphicFramePr>
        <p:xfrm>
          <a:off x="548640" y="1371600"/>
          <a:ext cx="8138160" cy="3886200"/>
        </p:xfrm>
        <a:graphic>
          <a:graphicData uri="http://schemas.openxmlformats.org/drawingml/2006/table">
            <a:tbl>
              <a:tblPr firstRow="1">
                <a:tableStyleId>{5C22544A-7EE6-4342-B048-85BDC9FD1C3A}</a:tableStyleId>
              </a:tblPr>
              <a:tblGrid>
                <a:gridCol w="2651760"/>
                <a:gridCol w="5486400"/>
              </a:tblGrid>
              <a:tr h="777240">
                <a:tc>
                  <a:txBody>
                    <a:bodyPr wrap="square"/>
                    <a:lstStyle/>
                    <a:p>
                      <a:pPr algn="l"/>
                      <a:r>
                        <a:rPr sz="1400" b="1">
                          <a:solidFill>
                            <a:srgbClr val="FFFFFF"/>
                          </a:solidFill>
                        </a:rPr>
                        <a:t>Check</a:t>
                      </a:r>
                    </a:p>
                  </a:txBody>
                  <a:tcPr anchor="ctr" marL="73152" marR="73152">
                    <a:lnL w="9525">
                      <a:solidFill>
                        <a:srgbClr val="D3E2E0"/>
                      </a:solidFill>
                    </a:lnL>
                    <a:lnR w="9525">
                      <a:solidFill>
                        <a:srgbClr val="D3E2E0"/>
                      </a:solidFill>
                    </a:lnR>
                    <a:lnT w="9525">
                      <a:solidFill>
                        <a:srgbClr val="D3E2E0"/>
                      </a:solidFill>
                    </a:lnT>
                    <a:lnB w="9525">
                      <a:solidFill>
                        <a:srgbClr val="D3E2E0"/>
                      </a:solidFill>
                    </a:lnB>
                    <a:solidFill>
                      <a:srgbClr val="0F4C5C"/>
                    </a:solidFill>
                  </a:tcPr>
                </a:tc>
                <a:tc>
                  <a:txBody>
                    <a:bodyPr wrap="square"/>
                    <a:lstStyle/>
                    <a:p>
                      <a:pPr algn="l"/>
                      <a:r>
                        <a:rPr sz="1400" b="1">
                          <a:solidFill>
                            <a:srgbClr val="FFFFFF"/>
                          </a:solidFill>
                        </a:rPr>
                        <a:t>Result</a:t>
                      </a:r>
                    </a:p>
                  </a:txBody>
                  <a:tcPr anchor="ctr" marL="73152" marR="73152">
                    <a:lnL w="9525">
                      <a:solidFill>
                        <a:srgbClr val="D3E2E0"/>
                      </a:solidFill>
                    </a:lnL>
                    <a:lnR w="9525">
                      <a:solidFill>
                        <a:srgbClr val="D3E2E0"/>
                      </a:solidFill>
                    </a:lnR>
                    <a:lnT w="9525">
                      <a:solidFill>
                        <a:srgbClr val="D3E2E0"/>
                      </a:solidFill>
                    </a:lnT>
                    <a:lnB w="9525">
                      <a:solidFill>
                        <a:srgbClr val="D3E2E0"/>
                      </a:solidFill>
                    </a:lnB>
                    <a:solidFill>
                      <a:srgbClr val="0F4C5C"/>
                    </a:solidFill>
                  </a:tcPr>
                </a:tc>
              </a:tr>
              <a:tr h="777240">
                <a:tc>
                  <a:txBody>
                    <a:bodyPr wrap="square"/>
                    <a:lstStyle/>
                    <a:p>
                      <a:pPr algn="l"/>
                      <a:r>
                        <a:rPr sz="1500" b="0">
                          <a:solidFill>
                            <a:srgbClr val="12262B"/>
                          </a:solidFill>
                        </a:rPr>
                        <a:t>27 threshold settings (lead 24 h, breakdown 10×)</a:t>
                      </a:r>
                    </a:p>
                  </a:txBody>
                  <a:tcPr anchor="ctr" marL="73152" marR="73152">
                    <a:lnL w="9525">
                      <a:solidFill>
                        <a:srgbClr val="D3E2E0"/>
                      </a:solidFill>
                    </a:lnL>
                    <a:lnR w="9525">
                      <a:solidFill>
                        <a:srgbClr val="D3E2E0"/>
                      </a:solidFill>
                    </a:lnR>
                    <a:lnT w="9525">
                      <a:solidFill>
                        <a:srgbClr val="D3E2E0"/>
                      </a:solidFill>
                    </a:lnT>
                    <a:lnB w="9525">
                      <a:solidFill>
                        <a:srgbClr val="D3E2E0"/>
                      </a:solidFill>
                    </a:lnB>
                    <a:solidFill>
                      <a:srgbClr val="FFFFFF"/>
                    </a:solidFill>
                  </a:tcPr>
                </a:tc>
                <a:tc>
                  <a:txBody>
                    <a:bodyPr wrap="square"/>
                    <a:lstStyle/>
                    <a:p>
                      <a:pPr algn="l"/>
                      <a:r>
                        <a:rPr sz="1500" b="0">
                          <a:solidFill>
                            <a:srgbClr val="12262B"/>
                          </a:solidFill>
                        </a:rPr>
                        <a:t>Physics OR AI: 4/4 in 27/27, cost 0.81-1.08. Physics alone: 4/4 in 9/27. AI floor changed nothing: 9 distinct outcomes</a:t>
                      </a:r>
                    </a:p>
                  </a:txBody>
                  <a:tcPr anchor="ctr" marL="73152" marR="73152">
                    <a:lnL w="9525">
                      <a:solidFill>
                        <a:srgbClr val="D3E2E0"/>
                      </a:solidFill>
                    </a:lnL>
                    <a:lnR w="9525">
                      <a:solidFill>
                        <a:srgbClr val="D3E2E0"/>
                      </a:solidFill>
                    </a:lnR>
                    <a:lnT w="9525">
                      <a:solidFill>
                        <a:srgbClr val="D3E2E0"/>
                      </a:solidFill>
                    </a:lnT>
                    <a:lnB w="9525">
                      <a:solidFill>
                        <a:srgbClr val="D3E2E0"/>
                      </a:solidFill>
                    </a:lnB>
                    <a:solidFill>
                      <a:srgbClr val="FFFFFF"/>
                    </a:solidFill>
                  </a:tcPr>
                </a:tc>
              </a:tr>
              <a:tr h="777240">
                <a:tc>
                  <a:txBody>
                    <a:bodyPr wrap="square"/>
                    <a:lstStyle/>
                    <a:p>
                      <a:pPr algn="l"/>
                      <a:r>
                        <a:rPr sz="1500" b="0">
                          <a:solidFill>
                            <a:srgbClr val="12262B"/>
                          </a:solidFill>
                        </a:rPr>
                        <a:t>Drop one test, re-score the other two (sensitivity check)</a:t>
                      </a:r>
                    </a:p>
                  </a:txBody>
                  <a:tcPr anchor="ctr" marL="73152" marR="73152">
                    <a:lnL w="9525">
                      <a:solidFill>
                        <a:srgbClr val="D3E2E0"/>
                      </a:solidFill>
                    </a:lnL>
                    <a:lnR w="9525">
                      <a:solidFill>
                        <a:srgbClr val="D3E2E0"/>
                      </a:solidFill>
                    </a:lnR>
                    <a:lnT w="9525">
                      <a:solidFill>
                        <a:srgbClr val="D3E2E0"/>
                      </a:solidFill>
                    </a:lnT>
                    <a:lnB w="9525">
                      <a:solidFill>
                        <a:srgbClr val="D3E2E0"/>
                      </a:solidFill>
                    </a:lnB>
                    <a:solidFill>
                      <a:srgbClr val="FFFFFF"/>
                    </a:solidFill>
                  </a:tcPr>
                </a:tc>
                <a:tc>
                  <a:txBody>
                    <a:bodyPr wrap="square"/>
                    <a:lstStyle/>
                    <a:p>
                      <a:pPr algn="l"/>
                      <a:r>
                        <a:rPr sz="1500" b="0">
                          <a:solidFill>
                            <a:srgbClr val="12262B"/>
                          </a:solidFill>
                        </a:rPr>
                        <a:t>Physics OR AI beats reactive (3.9-7.6) and preventive (1.2-3.5) every time; single alarms do not (set 2 dropped: preventive 1.21 vs physics 1.91, AI 1.61)</a:t>
                      </a:r>
                    </a:p>
                  </a:txBody>
                  <a:tcPr anchor="ctr" marL="73152" marR="73152">
                    <a:lnL w="9525">
                      <a:solidFill>
                        <a:srgbClr val="D3E2E0"/>
                      </a:solidFill>
                    </a:lnL>
                    <a:lnR w="9525">
                      <a:solidFill>
                        <a:srgbClr val="D3E2E0"/>
                      </a:solidFill>
                    </a:lnR>
                    <a:lnT w="9525">
                      <a:solidFill>
                        <a:srgbClr val="D3E2E0"/>
                      </a:solidFill>
                    </a:lnT>
                    <a:lnB w="9525">
                      <a:solidFill>
                        <a:srgbClr val="D3E2E0"/>
                      </a:solidFill>
                    </a:lnB>
                    <a:solidFill>
                      <a:srgbClr val="FFFFFF"/>
                    </a:solidFill>
                  </a:tcPr>
                </a:tc>
              </a:tr>
              <a:tr h="777240">
                <a:tc>
                  <a:txBody>
                    <a:bodyPr wrap="square"/>
                    <a:lstStyle/>
                    <a:p>
                      <a:pPr algn="l"/>
                      <a:r>
                        <a:rPr sz="1500" b="0">
                          <a:solidFill>
                            <a:srgbClr val="12262B"/>
                          </a:solidFill>
                        </a:rPr>
                        <a:t>False alarm 5× a planned job</a:t>
                      </a:r>
                    </a:p>
                  </a:txBody>
                  <a:tcPr anchor="ctr" marL="73152" marR="73152">
                    <a:lnL w="9525">
                      <a:solidFill>
                        <a:srgbClr val="D3E2E0"/>
                      </a:solidFill>
                    </a:lnL>
                    <a:lnR w="9525">
                      <a:solidFill>
                        <a:srgbClr val="D3E2E0"/>
                      </a:solidFill>
                    </a:lnR>
                    <a:lnT w="9525">
                      <a:solidFill>
                        <a:srgbClr val="D3E2E0"/>
                      </a:solidFill>
                    </a:lnT>
                    <a:lnB w="9525">
                      <a:solidFill>
                        <a:srgbClr val="D3E2E0"/>
                      </a:solidFill>
                    </a:lnB>
                    <a:solidFill>
                      <a:srgbClr val="FFFFFF"/>
                    </a:solidFill>
                  </a:tcPr>
                </a:tc>
                <a:tc>
                  <a:txBody>
                    <a:bodyPr wrap="square"/>
                    <a:lstStyle/>
                    <a:p>
                      <a:pPr algn="l"/>
                      <a:r>
                        <a:rPr sz="1500" b="0">
                          <a:solidFill>
                            <a:srgbClr val="12262B"/>
                          </a:solidFill>
                        </a:rPr>
                        <a:t>AI alone cheapest (1.61 vs 1.91 for either alarm)</a:t>
                      </a:r>
                    </a:p>
                  </a:txBody>
                  <a:tcPr anchor="ctr" marL="73152" marR="73152">
                    <a:lnL w="9525">
                      <a:solidFill>
                        <a:srgbClr val="D3E2E0"/>
                      </a:solidFill>
                    </a:lnL>
                    <a:lnR w="9525">
                      <a:solidFill>
                        <a:srgbClr val="D3E2E0"/>
                      </a:solidFill>
                    </a:lnR>
                    <a:lnT w="9525">
                      <a:solidFill>
                        <a:srgbClr val="D3E2E0"/>
                      </a:solidFill>
                    </a:lnT>
                    <a:lnB w="9525">
                      <a:solidFill>
                        <a:srgbClr val="D3E2E0"/>
                      </a:solidFill>
                    </a:lnB>
                    <a:solidFill>
                      <a:srgbClr val="FFFFFF"/>
                    </a:solidFill>
                  </a:tcPr>
                </a:tc>
              </a:tr>
              <a:tr h="777240">
                <a:tc>
                  <a:txBody>
                    <a:bodyPr wrap="square"/>
                    <a:lstStyle/>
                    <a:p>
                      <a:pPr algn="l"/>
                      <a:r>
                        <a:rPr sz="1500" b="0">
                          <a:solidFill>
                            <a:srgbClr val="12262B"/>
                          </a:solidFill>
                        </a:rPr>
                        <a:t>Set 1 B3 cross-talk from B4?</a:t>
                      </a:r>
                    </a:p>
                  </a:txBody>
                  <a:tcPr anchor="ctr" marL="73152" marR="73152">
                    <a:lnL w="9525">
                      <a:solidFill>
                        <a:srgbClr val="D3E2E0"/>
                      </a:solidFill>
                    </a:lnL>
                    <a:lnR w="9525">
                      <a:solidFill>
                        <a:srgbClr val="D3E2E0"/>
                      </a:solidFill>
                    </a:lnR>
                    <a:lnT w="9525">
                      <a:solidFill>
                        <a:srgbClr val="D3E2E0"/>
                      </a:solidFill>
                    </a:lnT>
                    <a:lnB w="9525">
                      <a:solidFill>
                        <a:srgbClr val="D3E2E0"/>
                      </a:solidFill>
                    </a:lnB>
                    <a:solidFill>
                      <a:srgbClr val="FFFFFF"/>
                    </a:solidFill>
                  </a:tcPr>
                </a:tc>
                <a:tc>
                  <a:txBody>
                    <a:bodyPr wrap="square"/>
                    <a:lstStyle/>
                    <a:p>
                      <a:pPr algn="l"/>
                      <a:r>
                        <a:rPr sz="1500" b="0">
                          <a:solidFill>
                            <a:srgbClr val="12262B"/>
                          </a:solidFill>
                        </a:rPr>
                        <a:t>Mostly no: B3's AI alarm is led by its own impacts (kurtosis, peak), not B4's roller rhythm</a:t>
                      </a:r>
                    </a:p>
                  </a:txBody>
                  <a:tcPr anchor="ctr" marL="73152" marR="73152">
                    <a:lnL w="9525">
                      <a:solidFill>
                        <a:srgbClr val="D3E2E0"/>
                      </a:solidFill>
                    </a:lnL>
                    <a:lnR w="9525">
                      <a:solidFill>
                        <a:srgbClr val="D3E2E0"/>
                      </a:solidFill>
                    </a:lnR>
                    <a:lnT w="9525">
                      <a:solidFill>
                        <a:srgbClr val="D3E2E0"/>
                      </a:solidFill>
                    </a:lnT>
                    <a:lnB w="9525">
                      <a:solidFill>
                        <a:srgbClr val="D3E2E0"/>
                      </a:solidFill>
                    </a:lnB>
                    <a:solidFill>
                      <a:srgbClr val="FFFFFF"/>
                    </a:solidFill>
                  </a:tcPr>
                </a:tc>
              </a:tr>
            </a:tbl>
          </a:graphicData>
        </a:graphic>
      </p:graphicFrame>
      <p:sp>
        <p:nvSpPr>
          <p:cNvPr id="27" name="stat 27 / 27"/>
          <p:cNvSpPr txBox="1"/>
          <p:nvPr/>
        </p:nvSpPr>
        <p:spPr>
          <a:xfrm>
            <a:off x="9052560" y="1280160"/>
            <a:ext cx="2560320" cy="777240"/>
          </a:xfrm>
          <a:prstGeom prst="rect">
            <a:avLst/>
          </a:prstGeom>
          <a:noFill/>
        </p:spPr>
        <p:txBody>
          <a:bodyPr wrap="square" anchor="t" lIns="0" rIns="0" tIns="0" bIns="0">
            <a:spAutoFit/>
          </a:bodyPr>
          <a:lstStyle/>
          <a:p>
            <a:pPr algn="l">
              <a:spcAft>
                <a:spcPts val="600"/>
              </a:spcAft>
            </a:pPr>
            <a:r>
              <a:rPr sz="4400" b="1">
                <a:solidFill>
                  <a:srgbClr val="3E9B5F"/>
                </a:solidFill>
              </a:rPr>
              <a:t>27 / 27</a:t>
            </a:r>
          </a:p>
        </p:txBody>
      </p:sp>
      <p:sp>
        <p:nvSpPr>
          <p:cNvPr id="28" name="TextBox 27"/>
          <p:cNvSpPr txBox="1"/>
          <p:nvPr/>
        </p:nvSpPr>
        <p:spPr>
          <a:xfrm>
            <a:off x="9052560" y="2057400"/>
            <a:ext cx="2560320" cy="640080"/>
          </a:xfrm>
          <a:prstGeom prst="rect">
            <a:avLst/>
          </a:prstGeom>
          <a:noFill/>
        </p:spPr>
        <p:txBody>
          <a:bodyPr wrap="square" anchor="t" lIns="0" rIns="0" tIns="0" bIns="0">
            <a:spAutoFit/>
          </a:bodyPr>
          <a:lstStyle/>
          <a:p>
            <a:pPr algn="l">
              <a:spcAft>
                <a:spcPts val="600"/>
              </a:spcAft>
            </a:pPr>
            <a:r>
              <a:rPr sz="1500" b="0">
                <a:solidFill>
                  <a:srgbClr val="5E6E70"/>
                </a:solidFill>
              </a:rPr>
              <a:t>threshold settings where either alarm catches all 4</a:t>
            </a:r>
          </a:p>
        </p:txBody>
      </p:sp>
      <p:sp>
        <p:nvSpPr>
          <p:cNvPr id="29" name="insurance note"/>
          <p:cNvSpPr/>
          <p:nvPr/>
        </p:nvSpPr>
        <p:spPr>
          <a:xfrm>
            <a:off x="9052560" y="3017520"/>
            <a:ext cx="2560320" cy="2651760"/>
          </a:xfrm>
          <a:prstGeom prst="roundRect">
            <a:avLst>
              <a:gd name="adj" fmla="val 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235440" y="3154680"/>
            <a:ext cx="2194560" cy="2468880"/>
          </a:xfrm>
          <a:prstGeom prst="rect">
            <a:avLst/>
          </a:prstGeom>
          <a:noFill/>
        </p:spPr>
        <p:txBody>
          <a:bodyPr wrap="square" anchor="t" lIns="0" rIns="0" tIns="0" bIns="0">
            <a:spAutoFit/>
          </a:bodyPr>
          <a:lstStyle/>
          <a:p>
            <a:pPr algn="l">
              <a:spcAft>
                <a:spcPts val="600"/>
              </a:spcAft>
            </a:pPr>
            <a:r>
              <a:rPr sz="1800" b="1">
                <a:solidFill>
                  <a:srgbClr val="12262B"/>
                </a:solidFill>
              </a:rPr>
              <a:t>AI as insurance</a:t>
            </a:r>
          </a:p>
          <a:p>
            <a:pPr algn="l">
              <a:spcAft>
                <a:spcPts val="600"/>
              </a:spcAft>
            </a:pPr>
            <a:r>
              <a:rPr sz="1500" b="0">
                <a:solidFill>
                  <a:srgbClr val="12262B"/>
                </a:solidFill>
              </a:rPr>
              <a:t>Physics alone needs a lucky threshold to catch all 4</a:t>
            </a:r>
          </a:p>
          <a:p>
            <a:pPr algn="l">
              <a:spcAft>
                <a:spcPts val="600"/>
              </a:spcAft>
            </a:pPr>
            <a:r>
              <a:rPr sz="1500" b="1">
                <a:solidFill>
                  <a:srgbClr val="F26B4F"/>
                </a:solidFill>
              </a:rPr>
              <a:t>Either alarm catches all 4 in every setting tried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r>
              <a:t>What didn’t work: predicting the hours left</a:t>
            </a:r>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A9B"/>
                </a:solidFill>
              </a:defRPr>
            </a:lvl1pPr>
          </a:lstStyle>
          <a:p>
            <a:pPr algn="r"/>
            <a:fld id="{F7021451-1387-4CA6-816F-3879F97B5CBC}" type="slidenum">
              <a:rPr b="0" lang="en-US"/>
              <a:t>2</a:t>
            </a:fld>
            <a:endParaRPr lang="en-US"/>
          </a:p>
        </p:txBody>
      </p:sp>
      <p:sp>
        <p:nvSpPr>
          <p:cNvPr id="26" name="negative Calibrated RUL bound"/>
          <p:cNvSpPr/>
          <p:nvPr/>
        </p:nvSpPr>
        <p:spPr>
          <a:xfrm>
            <a:off x="548640" y="1371600"/>
            <a:ext cx="5394960" cy="4023360"/>
          </a:xfrm>
          <a:prstGeom prst="roundRect">
            <a:avLst>
              <a:gd name="adj" fmla="val 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68680" y="1600200"/>
            <a:ext cx="4754880" cy="457200"/>
          </a:xfrm>
          <a:prstGeom prst="rect">
            <a:avLst/>
          </a:prstGeom>
          <a:noFill/>
        </p:spPr>
        <p:txBody>
          <a:bodyPr wrap="square" anchor="t" lIns="0" rIns="0" tIns="0" bIns="0">
            <a:spAutoFit/>
          </a:bodyPr>
          <a:lstStyle/>
          <a:p>
            <a:pPr algn="l">
              <a:spcAft>
                <a:spcPts val="600"/>
              </a:spcAft>
            </a:pPr>
            <a:r>
              <a:rPr sz="2200" b="1">
                <a:solidFill>
                  <a:srgbClr val="12262B"/>
                </a:solidFill>
              </a:rPr>
              <a:t>Calibrated RUL bound</a:t>
            </a:r>
          </a:p>
        </p:txBody>
      </p:sp>
      <p:sp>
        <p:nvSpPr>
          <p:cNvPr id="28" name="TextBox 27"/>
          <p:cNvSpPr txBox="1"/>
          <p:nvPr/>
        </p:nvSpPr>
        <p:spPr>
          <a:xfrm>
            <a:off x="868680" y="2194560"/>
            <a:ext cx="4754880" cy="822960"/>
          </a:xfrm>
          <a:prstGeom prst="rect">
            <a:avLst/>
          </a:prstGeom>
          <a:noFill/>
        </p:spPr>
        <p:txBody>
          <a:bodyPr wrap="square" anchor="t" lIns="0" rIns="0" tIns="0" bIns="0">
            <a:spAutoFit/>
          </a:bodyPr>
          <a:lstStyle/>
          <a:p>
            <a:pPr algn="l">
              <a:spcAft>
                <a:spcPts val="600"/>
              </a:spcAft>
            </a:pPr>
            <a:r>
              <a:rPr sz="4400" b="1">
                <a:solidFill>
                  <a:srgbClr val="D64545"/>
                </a:solidFill>
              </a:rPr>
              <a:t>17-59 h</a:t>
            </a:r>
          </a:p>
        </p:txBody>
      </p:sp>
      <p:sp>
        <p:nvSpPr>
          <p:cNvPr id="29" name="TextBox 28"/>
          <p:cNvSpPr txBox="1"/>
          <p:nvPr/>
        </p:nvSpPr>
        <p:spPr>
          <a:xfrm>
            <a:off x="868680" y="3017520"/>
            <a:ext cx="4754880" cy="457200"/>
          </a:xfrm>
          <a:prstGeom prst="rect">
            <a:avLst/>
          </a:prstGeom>
          <a:noFill/>
        </p:spPr>
        <p:txBody>
          <a:bodyPr wrap="square" anchor="t" lIns="0" rIns="0" tIns="0" bIns="0">
            <a:spAutoFit/>
          </a:bodyPr>
          <a:lstStyle/>
          <a:p>
            <a:pPr algn="l">
              <a:spcAft>
                <a:spcPts val="600"/>
              </a:spcAft>
            </a:pPr>
            <a:r>
              <a:rPr sz="1500" b="0">
                <a:solidFill>
                  <a:srgbClr val="5E6E70"/>
                </a:solidFill>
              </a:rPr>
              <a:t>safety margin, as wide as the lead time</a:t>
            </a:r>
          </a:p>
        </p:txBody>
      </p:sp>
      <p:sp>
        <p:nvSpPr>
          <p:cNvPr id="30" name="TextBox 29"/>
          <p:cNvSpPr txBox="1"/>
          <p:nvPr/>
        </p:nvSpPr>
        <p:spPr>
          <a:xfrm>
            <a:off x="868680" y="3749039"/>
            <a:ext cx="4754880" cy="2194560"/>
          </a:xfrm>
          <a:prstGeom prst="rect">
            <a:avLst/>
          </a:prstGeom>
          <a:noFill/>
        </p:spPr>
        <p:txBody>
          <a:bodyPr wrap="square" anchor="t" lIns="0" rIns="0" tIns="0" bIns="0">
            <a:spAutoFit/>
          </a:bodyPr>
          <a:lstStyle/>
          <a:p>
            <a:pPr algn="l">
              <a:spcAft>
                <a:spcPts val="1000"/>
              </a:spcAft>
            </a:pPr>
            <a:r>
              <a:rPr sz="1600" b="0">
                <a:solidFill>
                  <a:srgbClr val="12262B"/>
                </a:solidFill>
              </a:rPr>
              <a:t>Never catches more than “act at the alarm”; at 4-8 h lead it catches fewer (3 vs 4)</a:t>
            </a:r>
          </a:p>
          <a:p>
            <a:pPr algn="l">
              <a:spcAft>
                <a:spcPts val="1000"/>
              </a:spcAft>
            </a:pPr>
            <a:r>
              <a:rPr sz="1600" b="0">
                <a:solidFill>
                  <a:srgbClr val="12262B"/>
                </a:solidFill>
              </a:rPr>
              <a:t>After the alarm the bearings lasted 12, 53, 70, 97 h: too spread to learn from 3 examples</a:t>
            </a:r>
          </a:p>
        </p:txBody>
      </p:sp>
      <p:sp>
        <p:nvSpPr>
          <p:cNvPr id="31" name="negative Foundation model (Chronos-2)"/>
          <p:cNvSpPr/>
          <p:nvPr/>
        </p:nvSpPr>
        <p:spPr>
          <a:xfrm>
            <a:off x="6217920" y="1371600"/>
            <a:ext cx="5394960" cy="4023360"/>
          </a:xfrm>
          <a:prstGeom prst="roundRect">
            <a:avLst>
              <a:gd name="adj" fmla="val 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537959" y="1600200"/>
            <a:ext cx="4754880" cy="457200"/>
          </a:xfrm>
          <a:prstGeom prst="rect">
            <a:avLst/>
          </a:prstGeom>
          <a:noFill/>
        </p:spPr>
        <p:txBody>
          <a:bodyPr wrap="square" anchor="t" lIns="0" rIns="0" tIns="0" bIns="0">
            <a:spAutoFit/>
          </a:bodyPr>
          <a:lstStyle/>
          <a:p>
            <a:pPr algn="l">
              <a:spcAft>
                <a:spcPts val="600"/>
              </a:spcAft>
            </a:pPr>
            <a:r>
              <a:rPr sz="2200" b="1">
                <a:solidFill>
                  <a:srgbClr val="12262B"/>
                </a:solidFill>
              </a:rPr>
              <a:t>Foundation model (Chronos-2)</a:t>
            </a:r>
          </a:p>
        </p:txBody>
      </p:sp>
      <p:sp>
        <p:nvSpPr>
          <p:cNvPr id="33" name="TextBox 32"/>
          <p:cNvSpPr txBox="1"/>
          <p:nvPr/>
        </p:nvSpPr>
        <p:spPr>
          <a:xfrm>
            <a:off x="6537959" y="2194560"/>
            <a:ext cx="4754880" cy="822960"/>
          </a:xfrm>
          <a:prstGeom prst="rect">
            <a:avLst/>
          </a:prstGeom>
          <a:noFill/>
        </p:spPr>
        <p:txBody>
          <a:bodyPr wrap="square" anchor="t" lIns="0" rIns="0" tIns="0" bIns="0">
            <a:spAutoFit/>
          </a:bodyPr>
          <a:lstStyle/>
          <a:p>
            <a:pPr algn="l">
              <a:spcAft>
                <a:spcPts val="600"/>
              </a:spcAft>
            </a:pPr>
            <a:r>
              <a:rPr sz="4400" b="1">
                <a:solidFill>
                  <a:srgbClr val="D64545"/>
                </a:solidFill>
              </a:rPr>
              <a:t>56 vs 25 h</a:t>
            </a:r>
          </a:p>
        </p:txBody>
      </p:sp>
      <p:sp>
        <p:nvSpPr>
          <p:cNvPr id="34" name="TextBox 33"/>
          <p:cNvSpPr txBox="1"/>
          <p:nvPr/>
        </p:nvSpPr>
        <p:spPr>
          <a:xfrm>
            <a:off x="6537959" y="3017520"/>
            <a:ext cx="4754880" cy="457200"/>
          </a:xfrm>
          <a:prstGeom prst="rect">
            <a:avLst/>
          </a:prstGeom>
          <a:noFill/>
        </p:spPr>
        <p:txBody>
          <a:bodyPr wrap="square" anchor="t" lIns="0" rIns="0" tIns="0" bIns="0">
            <a:spAutoFit/>
          </a:bodyPr>
          <a:lstStyle/>
          <a:p>
            <a:pPr algn="l">
              <a:spcAft>
                <a:spcPts val="600"/>
              </a:spcAft>
            </a:pPr>
            <a:r>
              <a:rPr sz="1500" b="0">
                <a:solidFill>
                  <a:srgbClr val="5E6E70"/>
                </a:solidFill>
              </a:rPr>
              <a:t>RUL error vs gradient boosting (set 2 B1, exploratory run)</a:t>
            </a:r>
          </a:p>
        </p:txBody>
      </p:sp>
      <p:sp>
        <p:nvSpPr>
          <p:cNvPr id="35" name="TextBox 34"/>
          <p:cNvSpPr txBox="1"/>
          <p:nvPr/>
        </p:nvSpPr>
        <p:spPr>
          <a:xfrm>
            <a:off x="6537959" y="3749039"/>
            <a:ext cx="4754880" cy="2194560"/>
          </a:xfrm>
          <a:prstGeom prst="rect">
            <a:avLst/>
          </a:prstGeom>
          <a:noFill/>
        </p:spPr>
        <p:txBody>
          <a:bodyPr wrap="square" anchor="t" lIns="0" rIns="0" tIns="0" bIns="0">
            <a:spAutoFit/>
          </a:bodyPr>
          <a:lstStyle/>
          <a:p>
            <a:pPr algn="l">
              <a:spcAft>
                <a:spcPts val="1000"/>
              </a:spcAft>
            </a:pPr>
            <a:r>
              <a:rPr sz="1600" b="0">
                <a:solidFill>
                  <a:srgbClr val="12262B"/>
                </a:solidFill>
              </a:rPr>
              <a:t>Forecast the vibration levelling off; it actually accelerated</a:t>
            </a:r>
          </a:p>
          <a:p>
            <a:pPr algn="l">
              <a:spcAft>
                <a:spcPts val="1000"/>
              </a:spcAft>
            </a:pPr>
            <a:r>
              <a:rPr sz="1600" b="0">
                <a:solidFill>
                  <a:srgbClr val="12262B"/>
                </a:solidFill>
              </a:rPr>
              <a:t>Pretrained forecasters continue patterns; failure breaks the pattern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r>
              <a:t>What Part II adds, and its limits</a:t>
            </a:r>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A9B"/>
                </a:solidFill>
              </a:defRPr>
            </a:lvl1pPr>
          </a:lstStyle>
          <a:p>
            <a:pPr algn="r"/>
            <a:fld id="{F7021451-1387-4CA6-816F-3879F97B5CBC}" type="slidenum">
              <a:rPr b="0" lang="en-US"/>
              <a:t>2</a:t>
            </a:fld>
            <a:endParaRPr lang="en-US"/>
          </a:p>
        </p:txBody>
      </p:sp>
      <p:sp>
        <p:nvSpPr>
          <p:cNvPr id="26" name="badge 1"/>
          <p:cNvSpPr/>
          <p:nvPr/>
        </p:nvSpPr>
        <p:spPr>
          <a:xfrm>
            <a:off x="548640" y="1463040"/>
            <a:ext cx="685800" cy="685800"/>
          </a:xfrm>
          <a:prstGeom prst="ellipse">
            <a:avLst/>
          </a:prstGeom>
          <a:solidFill>
            <a:srgbClr val="F26B4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rPr>
              <a:t>1</a:t>
            </a:r>
          </a:p>
        </p:txBody>
      </p:sp>
      <p:sp>
        <p:nvSpPr>
          <p:cNvPr id="27" name="TextBox 26"/>
          <p:cNvSpPr txBox="1"/>
          <p:nvPr/>
        </p:nvSpPr>
        <p:spPr>
          <a:xfrm>
            <a:off x="1463040" y="1371600"/>
            <a:ext cx="5577840" cy="411480"/>
          </a:xfrm>
          <a:prstGeom prst="rect">
            <a:avLst/>
          </a:prstGeom>
          <a:noFill/>
        </p:spPr>
        <p:txBody>
          <a:bodyPr wrap="square" anchor="t" lIns="0" rIns="0" tIns="0" bIns="0">
            <a:spAutoFit/>
          </a:bodyPr>
          <a:lstStyle/>
          <a:p>
            <a:pPr algn="l">
              <a:spcAft>
                <a:spcPts val="600"/>
              </a:spcAft>
            </a:pPr>
            <a:r>
              <a:rPr sz="2000" b="1">
                <a:solidFill>
                  <a:srgbClr val="12262B"/>
                </a:solidFill>
              </a:rPr>
              <a:t>Cost model</a:t>
            </a:r>
          </a:p>
        </p:txBody>
      </p:sp>
      <p:sp>
        <p:nvSpPr>
          <p:cNvPr id="28" name="TextBox 27"/>
          <p:cNvSpPr txBox="1"/>
          <p:nvPr/>
        </p:nvSpPr>
        <p:spPr>
          <a:xfrm>
            <a:off x="1463040" y="1810512"/>
            <a:ext cx="5577840" cy="640080"/>
          </a:xfrm>
          <a:prstGeom prst="rect">
            <a:avLst/>
          </a:prstGeom>
          <a:noFill/>
        </p:spPr>
        <p:txBody>
          <a:bodyPr wrap="square" anchor="t" lIns="0" rIns="0" tIns="0" bIns="0">
            <a:spAutoFit/>
          </a:bodyPr>
          <a:lstStyle/>
          <a:p>
            <a:pPr algn="l">
              <a:spcAft>
                <a:spcPts val="600"/>
              </a:spcAft>
            </a:pPr>
            <a:r>
              <a:rPr sz="1500" b="0">
                <a:solidFill>
                  <a:srgbClr val="5E6E70"/>
                </a:solidFill>
              </a:rPr>
              <a:t>Reactive, preventive and condition-based replayed on real run-to-failure data</a:t>
            </a:r>
          </a:p>
        </p:txBody>
      </p:sp>
      <p:sp>
        <p:nvSpPr>
          <p:cNvPr id="29" name="badge 2"/>
          <p:cNvSpPr/>
          <p:nvPr/>
        </p:nvSpPr>
        <p:spPr>
          <a:xfrm>
            <a:off x="548640" y="2651760"/>
            <a:ext cx="685800" cy="685800"/>
          </a:xfrm>
          <a:prstGeom prst="ellipse">
            <a:avLst/>
          </a:prstGeom>
          <a:solidFill>
            <a:srgbClr val="F26B4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rPr>
              <a:t>2</a:t>
            </a:r>
          </a:p>
        </p:txBody>
      </p:sp>
      <p:sp>
        <p:nvSpPr>
          <p:cNvPr id="30" name="TextBox 29"/>
          <p:cNvSpPr txBox="1"/>
          <p:nvPr/>
        </p:nvSpPr>
        <p:spPr>
          <a:xfrm>
            <a:off x="1463040" y="2560320"/>
            <a:ext cx="5577840" cy="411480"/>
          </a:xfrm>
          <a:prstGeom prst="rect">
            <a:avLst/>
          </a:prstGeom>
          <a:noFill/>
        </p:spPr>
        <p:txBody>
          <a:bodyPr wrap="square" anchor="t" lIns="0" rIns="0" tIns="0" bIns="0">
            <a:spAutoFit/>
          </a:bodyPr>
          <a:lstStyle/>
          <a:p>
            <a:pPr algn="l">
              <a:spcAft>
                <a:spcPts val="600"/>
              </a:spcAft>
            </a:pPr>
            <a:r>
              <a:rPr sz="2000" b="1">
                <a:solidFill>
                  <a:srgbClr val="12262B"/>
                </a:solidFill>
              </a:rPr>
              <a:t>Complementary alarms</a:t>
            </a:r>
          </a:p>
        </p:txBody>
      </p:sp>
      <p:sp>
        <p:nvSpPr>
          <p:cNvPr id="31" name="TextBox 30"/>
          <p:cNvSpPr txBox="1"/>
          <p:nvPr/>
        </p:nvSpPr>
        <p:spPr>
          <a:xfrm>
            <a:off x="1463040" y="2999232"/>
            <a:ext cx="5577840" cy="640080"/>
          </a:xfrm>
          <a:prstGeom prst="rect">
            <a:avLst/>
          </a:prstGeom>
          <a:noFill/>
        </p:spPr>
        <p:txBody>
          <a:bodyPr wrap="square" anchor="t" lIns="0" rIns="0" tIns="0" bIns="0">
            <a:spAutoFit/>
          </a:bodyPr>
          <a:lstStyle/>
          <a:p>
            <a:pPr algn="l">
              <a:spcAft>
                <a:spcPts val="600"/>
              </a:spcAft>
            </a:pPr>
            <a:r>
              <a:rPr sz="1500" b="0">
                <a:solidFill>
                  <a:srgbClr val="5E6E70"/>
                </a:solidFill>
              </a:rPr>
              <a:t>Either alarm catches all 4 in all 27 threshold settings tried: AI is insurance</a:t>
            </a:r>
          </a:p>
        </p:txBody>
      </p:sp>
      <p:sp>
        <p:nvSpPr>
          <p:cNvPr id="32" name="badge 3"/>
          <p:cNvSpPr/>
          <p:nvPr/>
        </p:nvSpPr>
        <p:spPr>
          <a:xfrm>
            <a:off x="548640" y="3840479"/>
            <a:ext cx="685800" cy="685800"/>
          </a:xfrm>
          <a:prstGeom prst="ellipse">
            <a:avLst/>
          </a:prstGeom>
          <a:solidFill>
            <a:srgbClr val="F26B4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rPr>
              <a:t>3</a:t>
            </a:r>
          </a:p>
        </p:txBody>
      </p:sp>
      <p:sp>
        <p:nvSpPr>
          <p:cNvPr id="33" name="TextBox 32"/>
          <p:cNvSpPr txBox="1"/>
          <p:nvPr/>
        </p:nvSpPr>
        <p:spPr>
          <a:xfrm>
            <a:off x="1463040" y="3749039"/>
            <a:ext cx="5577840" cy="411480"/>
          </a:xfrm>
          <a:prstGeom prst="rect">
            <a:avLst/>
          </a:prstGeom>
          <a:noFill/>
        </p:spPr>
        <p:txBody>
          <a:bodyPr wrap="square" anchor="t" lIns="0" rIns="0" tIns="0" bIns="0">
            <a:spAutoFit/>
          </a:bodyPr>
          <a:lstStyle/>
          <a:p>
            <a:pPr algn="l">
              <a:spcAft>
                <a:spcPts val="600"/>
              </a:spcAft>
            </a:pPr>
            <a:r>
              <a:rPr sz="2000" b="1">
                <a:solidFill>
                  <a:srgbClr val="12262B"/>
                </a:solidFill>
              </a:rPr>
              <a:t>Operating envelope</a:t>
            </a:r>
          </a:p>
        </p:txBody>
      </p:sp>
      <p:sp>
        <p:nvSpPr>
          <p:cNvPr id="34" name="TextBox 33"/>
          <p:cNvSpPr txBox="1"/>
          <p:nvPr/>
        </p:nvSpPr>
        <p:spPr>
          <a:xfrm>
            <a:off x="1463040" y="4187952"/>
            <a:ext cx="5577840" cy="640080"/>
          </a:xfrm>
          <a:prstGeom prst="rect">
            <a:avLst/>
          </a:prstGeom>
          <a:noFill/>
        </p:spPr>
        <p:txBody>
          <a:bodyPr wrap="square" anchor="t" lIns="0" rIns="0" tIns="0" bIns="0">
            <a:spAutoFit/>
          </a:bodyPr>
          <a:lstStyle/>
          <a:p>
            <a:pPr algn="l">
              <a:spcAft>
                <a:spcPts val="600"/>
              </a:spcAft>
            </a:pPr>
            <a:r>
              <a:rPr sz="1500" b="0">
                <a:solidFill>
                  <a:srgbClr val="5E6E70"/>
                </a:solidFill>
              </a:rPr>
              <a:t>Either-alarm rule pays above 2×; catches all 4 if replaced within ~2 days</a:t>
            </a:r>
          </a:p>
        </p:txBody>
      </p:sp>
      <p:sp>
        <p:nvSpPr>
          <p:cNvPr id="35" name="badge 4"/>
          <p:cNvSpPr/>
          <p:nvPr/>
        </p:nvSpPr>
        <p:spPr>
          <a:xfrm>
            <a:off x="548640" y="5029200"/>
            <a:ext cx="685800" cy="685800"/>
          </a:xfrm>
          <a:prstGeom prst="ellipse">
            <a:avLst/>
          </a:prstGeom>
          <a:solidFill>
            <a:srgbClr val="F26B4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rPr>
              <a:t>4</a:t>
            </a:r>
          </a:p>
        </p:txBody>
      </p:sp>
      <p:sp>
        <p:nvSpPr>
          <p:cNvPr id="36" name="TextBox 35"/>
          <p:cNvSpPr txBox="1"/>
          <p:nvPr/>
        </p:nvSpPr>
        <p:spPr>
          <a:xfrm>
            <a:off x="1463040" y="4937760"/>
            <a:ext cx="5577840" cy="411480"/>
          </a:xfrm>
          <a:prstGeom prst="rect">
            <a:avLst/>
          </a:prstGeom>
          <a:noFill/>
        </p:spPr>
        <p:txBody>
          <a:bodyPr wrap="square" anchor="t" lIns="0" rIns="0" tIns="0" bIns="0">
            <a:spAutoFit/>
          </a:bodyPr>
          <a:lstStyle/>
          <a:p>
            <a:pPr algn="l">
              <a:spcAft>
                <a:spcPts val="600"/>
              </a:spcAft>
            </a:pPr>
            <a:r>
              <a:rPr sz="2000" b="1">
                <a:solidFill>
                  <a:srgbClr val="12262B"/>
                </a:solidFill>
              </a:rPr>
              <a:t>Two negative results</a:t>
            </a:r>
          </a:p>
        </p:txBody>
      </p:sp>
      <p:sp>
        <p:nvSpPr>
          <p:cNvPr id="37" name="TextBox 36"/>
          <p:cNvSpPr txBox="1"/>
          <p:nvPr/>
        </p:nvSpPr>
        <p:spPr>
          <a:xfrm>
            <a:off x="1463040" y="5376672"/>
            <a:ext cx="5577840" cy="640080"/>
          </a:xfrm>
          <a:prstGeom prst="rect">
            <a:avLst/>
          </a:prstGeom>
          <a:noFill/>
        </p:spPr>
        <p:txBody>
          <a:bodyPr wrap="square" anchor="t" lIns="0" rIns="0" tIns="0" bIns="0">
            <a:spAutoFit/>
          </a:bodyPr>
          <a:lstStyle/>
          <a:p>
            <a:pPr algn="l">
              <a:spcAft>
                <a:spcPts val="600"/>
              </a:spcAft>
            </a:pPr>
            <a:r>
              <a:rPr sz="1500" b="0">
                <a:solidFill>
                  <a:srgbClr val="5E6E70"/>
                </a:solidFill>
              </a:rPr>
              <a:t>RUL prediction and a foundation model don’t help with 4 failures</a:t>
            </a:r>
          </a:p>
        </p:txBody>
      </p:sp>
      <p:sp>
        <p:nvSpPr>
          <p:cNvPr id="38" name="limits"/>
          <p:cNvSpPr/>
          <p:nvPr/>
        </p:nvSpPr>
        <p:spPr>
          <a:xfrm>
            <a:off x="7498079" y="1371600"/>
            <a:ext cx="4114800" cy="4023360"/>
          </a:xfrm>
          <a:prstGeom prst="roundRect">
            <a:avLst>
              <a:gd name="adj" fmla="val 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772400" y="1554480"/>
            <a:ext cx="3566160" cy="3749039"/>
          </a:xfrm>
          <a:prstGeom prst="rect">
            <a:avLst/>
          </a:prstGeom>
          <a:noFill/>
        </p:spPr>
        <p:txBody>
          <a:bodyPr wrap="square" anchor="t" lIns="0" rIns="0" tIns="0" bIns="0">
            <a:spAutoFit/>
          </a:bodyPr>
          <a:lstStyle/>
          <a:p>
            <a:pPr algn="l">
              <a:spcAft>
                <a:spcPts val="800"/>
              </a:spcAft>
            </a:pPr>
            <a:r>
              <a:rPr sz="2000" b="1">
                <a:solidFill>
                  <a:srgbClr val="12262B"/>
                </a:solidFill>
              </a:rPr>
              <a:t>Limits</a:t>
            </a:r>
          </a:p>
          <a:p>
            <a:pPr algn="l">
              <a:spcAft>
                <a:spcPts val="800"/>
              </a:spcAft>
            </a:pPr>
            <a:r>
              <a:rPr sz="1500" b="0">
                <a:solidFill>
                  <a:srgbClr val="12262B"/>
                </a:solidFill>
              </a:rPr>
              <a:t>Only 4 failures: a case study, not a validated accuracy</a:t>
            </a:r>
          </a:p>
          <a:p>
            <a:pPr algn="l">
              <a:spcAft>
                <a:spcPts val="800"/>
              </a:spcAft>
            </a:pPr>
            <a:r>
              <a:rPr sz="1500" b="0">
                <a:solidFill>
                  <a:srgbClr val="12262B"/>
                </a:solidFill>
              </a:rPr>
              <a:t>Thresholds set on these 12 bearings (4/4 still holds in 27/27 settings)</a:t>
            </a:r>
          </a:p>
          <a:p>
            <a:pPr algn="l">
              <a:spcAft>
                <a:spcPts val="800"/>
              </a:spcAft>
            </a:pPr>
            <a:r>
              <a:rPr sz="1500" b="0">
                <a:solidFill>
                  <a:srgbClr val="12262B"/>
                </a:solidFill>
              </a:rPr>
              <a:t>Cheapest single alarm rule varies by test and false-alarm cost</a:t>
            </a:r>
          </a:p>
          <a:p>
            <a:pPr algn="l">
              <a:spcAft>
                <a:spcPts val="800"/>
              </a:spcAft>
            </a:pPr>
            <a:r>
              <a:rPr sz="1500" b="0">
                <a:solidFill>
                  <a:srgbClr val="12262B"/>
                </a:solidFill>
              </a:rPr>
              <a:t>Costs and lead time are assumptions, so we show ranges</a:t>
            </a:r>
          </a:p>
          <a:p>
            <a:pPr algn="l">
              <a:spcAft>
                <a:spcPts val="800"/>
              </a:spcAft>
            </a:pPr>
            <a:r>
              <a:rPr sz="1500" b="0">
                <a:solidFill>
                  <a:srgbClr val="12262B"/>
                </a:solidFill>
              </a:rPr>
              <a:t>Each bearing costed alone; one stop could replace several</a:t>
            </a:r>
          </a:p>
          <a:p>
            <a:pPr algn="l">
              <a:spcAft>
                <a:spcPts val="800"/>
              </a:spcAft>
            </a:pPr>
            <a:r>
              <a:rPr sz="1500" b="0">
                <a:solidFill>
                  <a:srgbClr val="12262B"/>
                </a:solidFill>
              </a:rPr>
              <a:t>Preventive interval chosen with hindsight (optimistic)</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731520" y="1737360"/>
            <a:ext cx="6766560" cy="1828800"/>
          </a:xfrm>
          <a:prstGeom prst="rect">
            <a:avLst/>
          </a:prstGeom>
          <a:noFill/>
          <a:ln/>
        </p:spPr>
        <p:txBody>
          <a:bodyPr wrap="square" lIns="0" tIns="0" rIns="0" bIns="0" rtlCol="0" anchor="b"/>
          <a:lstStyle/>
          <a:p>
            <a:pPr algn="l" indent="0" marL="0">
              <a:buNone/>
            </a:pPr>
            <a:r>
              <a:rPr lang="en-US" sz="4000" b="1" dirty="0">
                <a:solidFill>
                  <a:schemeClr val="bg1"/>
                </a:solidFill>
              </a:rPr>
              <a:t>Watch with two eyes; act within two days</a:t>
            </a:r>
            <a:endParaRPr lang="en-US" sz="4000" dirty="0"/>
          </a:p>
        </p:txBody>
      </p:sp>
      <p:sp>
        <p:nvSpPr>
          <p:cNvPr id="3" name="Text 0"/>
          <p:cNvSpPr/>
          <p:nvPr>
            <p:ph idx="101" type="body" hasCustomPrompt="1"/>
          </p:nvPr>
        </p:nvSpPr>
        <p:spPr>
          <a:xfrm>
            <a:off x="731520" y="3840480"/>
            <a:ext cx="6766560" cy="2377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chemeClr val="accent6"/>
                </a:solidFill>
              </a:rPr>
              <a:t>Physics OR AI alarm: 4 of 4 failures caught, 0 breakdowns</a:t>
            </a:r>
            <a:endParaRPr lang="en-US" sz="2000" dirty="0"/>
          </a:p>
          <a:p>
            <a:pPr algn="l" marL="342900" indent="-342900">
              <a:spcAft>
                <a:spcPts val="800"/>
              </a:spcAft>
              <a:buSzPct val="100000"/>
              <a:buChar char="•"/>
            </a:pPr>
            <a:r>
              <a:rPr lang="en-US" sz="2000" dirty="0">
                <a:solidFill>
                  <a:schemeClr val="accent6"/>
                </a:solidFill>
              </a:rPr>
              <a:t>About 6× cheaper than run-to-failure</a:t>
            </a:r>
            <a:endParaRPr lang="en-US" sz="2000" dirty="0"/>
          </a:p>
          <a:p>
            <a:pPr algn="l" marL="342900" indent="-342900">
              <a:spcAft>
                <a:spcPts val="800"/>
              </a:spcAft>
              <a:buSzPct val="100000"/>
              <a:buChar char="•"/>
            </a:pPr>
            <a:r>
              <a:rPr lang="en-US" sz="2000" dirty="0">
                <a:solidFill>
                  <a:schemeClr val="accent6"/>
                </a:solidFill>
              </a:rPr>
              <a:t>Pays when a breakdown costs over 2× a planned repair</a:t>
            </a:r>
            <a:endParaRPr lang="en-US" sz="2000" dirty="0"/>
          </a:p>
          <a:p>
            <a:pPr algn="l" marL="342900" indent="-342900">
              <a:spcAft>
                <a:spcPts val="800"/>
              </a:spcAft>
              <a:buSzPct val="100000"/>
              <a:buChar char="•"/>
            </a:pPr>
            <a:r>
              <a:rPr lang="en-US" sz="2000" dirty="0">
                <a:solidFill>
                  <a:schemeClr val="accent6"/>
                </a:solidFill>
              </a:rPr>
              <a:t>Holds over 27 threshold settings; limit: only 4 failures</a:t>
            </a:r>
            <a:endParaRPr lang="en-US" sz="2000" dirty="0"/>
          </a:p>
        </p:txBody>
      </p:sp>
      <p:sp>
        <p:nvSpPr>
          <p:cNvPr id="4" name="outer race"/>
          <p:cNvSpPr/>
          <p:nvPr/>
        </p:nvSpPr>
        <p:spPr>
          <a:xfrm>
            <a:off x="7589520" y="1508760"/>
            <a:ext cx="3840480" cy="3840480"/>
          </a:xfrm>
          <a:prstGeom prst="ellipse">
            <a:avLst/>
          </a:prstGeom>
          <a:solidFill>
            <a:srgbClr val="9CC9C4"/>
          </a:solidFill>
          <a:ln w="12700">
            <a:solidFill>
              <a:srgbClr val="9CC9C4"/>
            </a:solidFill>
            <a:prstDash val="solid"/>
          </a:ln>
        </p:spPr>
      </p:sp>
      <p:sp>
        <p:nvSpPr>
          <p:cNvPr id="5" name="outer race bore"/>
          <p:cNvSpPr/>
          <p:nvPr/>
        </p:nvSpPr>
        <p:spPr>
          <a:xfrm>
            <a:off x="7935163" y="1854403"/>
            <a:ext cx="3149194" cy="3149194"/>
          </a:xfrm>
          <a:prstGeom prst="ellipse">
            <a:avLst/>
          </a:prstGeom>
          <a:solidFill>
            <a:srgbClr val="0F4C5C"/>
          </a:solidFill>
          <a:ln w="12700">
            <a:solidFill>
              <a:srgbClr val="0F4C5C"/>
            </a:solidFill>
            <a:prstDash val="solid"/>
          </a:ln>
        </p:spPr>
      </p:sp>
      <p:sp>
        <p:nvSpPr>
          <p:cNvPr id="6" name="inner race"/>
          <p:cNvSpPr/>
          <p:nvPr/>
        </p:nvSpPr>
        <p:spPr>
          <a:xfrm>
            <a:off x="8549640" y="2468880"/>
            <a:ext cx="1920240" cy="1920240"/>
          </a:xfrm>
          <a:prstGeom prst="ellipse">
            <a:avLst/>
          </a:prstGeom>
          <a:solidFill>
            <a:srgbClr val="9CC9C4"/>
          </a:solidFill>
          <a:ln w="12700">
            <a:solidFill>
              <a:srgbClr val="9CC9C4"/>
            </a:solidFill>
            <a:prstDash val="solid"/>
          </a:ln>
        </p:spPr>
      </p:sp>
      <p:sp>
        <p:nvSpPr>
          <p:cNvPr id="7" name="shaft bore"/>
          <p:cNvSpPr/>
          <p:nvPr/>
        </p:nvSpPr>
        <p:spPr>
          <a:xfrm>
            <a:off x="8895283" y="2814523"/>
            <a:ext cx="1228954" cy="1228954"/>
          </a:xfrm>
          <a:prstGeom prst="ellipse">
            <a:avLst/>
          </a:prstGeom>
          <a:solidFill>
            <a:srgbClr val="0F4C5C"/>
          </a:solidFill>
          <a:ln w="12700">
            <a:solidFill>
              <a:srgbClr val="0F4C5C"/>
            </a:solidFill>
            <a:prstDash val="solid"/>
          </a:ln>
        </p:spPr>
      </p:sp>
      <p:sp>
        <p:nvSpPr>
          <p:cNvPr id="8" name="rolling element 1"/>
          <p:cNvSpPr/>
          <p:nvPr/>
        </p:nvSpPr>
        <p:spPr>
          <a:xfrm>
            <a:off x="10508285" y="3160166"/>
            <a:ext cx="537667" cy="537667"/>
          </a:xfrm>
          <a:prstGeom prst="ellipse">
            <a:avLst/>
          </a:prstGeom>
          <a:solidFill>
            <a:srgbClr val="F26B4F"/>
          </a:solidFill>
          <a:ln w="12700">
            <a:solidFill>
              <a:srgbClr val="F26B4F"/>
            </a:solidFill>
            <a:prstDash val="solid"/>
          </a:ln>
        </p:spPr>
      </p:sp>
      <p:sp>
        <p:nvSpPr>
          <p:cNvPr id="9" name="rolling element 2"/>
          <p:cNvSpPr/>
          <p:nvPr/>
        </p:nvSpPr>
        <p:spPr>
          <a:xfrm>
            <a:off x="10338491" y="3793846"/>
            <a:ext cx="537667" cy="537667"/>
          </a:xfrm>
          <a:prstGeom prst="ellipse">
            <a:avLst/>
          </a:prstGeom>
          <a:solidFill>
            <a:srgbClr val="F26B4F"/>
          </a:solidFill>
          <a:ln w="12700">
            <a:solidFill>
              <a:srgbClr val="F26B4F"/>
            </a:solidFill>
            <a:prstDash val="solid"/>
          </a:ln>
        </p:spPr>
      </p:sp>
      <p:sp>
        <p:nvSpPr>
          <p:cNvPr id="10" name="rolling element 3"/>
          <p:cNvSpPr/>
          <p:nvPr/>
        </p:nvSpPr>
        <p:spPr>
          <a:xfrm>
            <a:off x="9874606" y="4257731"/>
            <a:ext cx="537667" cy="537667"/>
          </a:xfrm>
          <a:prstGeom prst="ellipse">
            <a:avLst/>
          </a:prstGeom>
          <a:solidFill>
            <a:srgbClr val="F26B4F"/>
          </a:solidFill>
          <a:ln w="12700">
            <a:solidFill>
              <a:srgbClr val="F26B4F"/>
            </a:solidFill>
            <a:prstDash val="solid"/>
          </a:ln>
        </p:spPr>
      </p:sp>
      <p:sp>
        <p:nvSpPr>
          <p:cNvPr id="11" name="rolling element 4"/>
          <p:cNvSpPr/>
          <p:nvPr/>
        </p:nvSpPr>
        <p:spPr>
          <a:xfrm>
            <a:off x="9240926" y="4427525"/>
            <a:ext cx="537667" cy="537667"/>
          </a:xfrm>
          <a:prstGeom prst="ellipse">
            <a:avLst/>
          </a:prstGeom>
          <a:solidFill>
            <a:srgbClr val="F26B4F"/>
          </a:solidFill>
          <a:ln w="12700">
            <a:solidFill>
              <a:srgbClr val="F26B4F"/>
            </a:solidFill>
            <a:prstDash val="solid"/>
          </a:ln>
        </p:spPr>
      </p:sp>
      <p:sp>
        <p:nvSpPr>
          <p:cNvPr id="12" name="rolling element 5"/>
          <p:cNvSpPr/>
          <p:nvPr/>
        </p:nvSpPr>
        <p:spPr>
          <a:xfrm>
            <a:off x="8607247" y="4257731"/>
            <a:ext cx="537667" cy="537667"/>
          </a:xfrm>
          <a:prstGeom prst="ellipse">
            <a:avLst/>
          </a:prstGeom>
          <a:solidFill>
            <a:srgbClr val="F26B4F"/>
          </a:solidFill>
          <a:ln w="12700">
            <a:solidFill>
              <a:srgbClr val="F26B4F"/>
            </a:solidFill>
            <a:prstDash val="solid"/>
          </a:ln>
        </p:spPr>
      </p:sp>
      <p:sp>
        <p:nvSpPr>
          <p:cNvPr id="13" name="rolling element 6"/>
          <p:cNvSpPr/>
          <p:nvPr/>
        </p:nvSpPr>
        <p:spPr>
          <a:xfrm>
            <a:off x="8143362" y="3793846"/>
            <a:ext cx="537667" cy="537667"/>
          </a:xfrm>
          <a:prstGeom prst="ellipse">
            <a:avLst/>
          </a:prstGeom>
          <a:solidFill>
            <a:srgbClr val="F26B4F"/>
          </a:solidFill>
          <a:ln w="12700">
            <a:solidFill>
              <a:srgbClr val="F26B4F"/>
            </a:solidFill>
            <a:prstDash val="solid"/>
          </a:ln>
        </p:spPr>
      </p:sp>
      <p:sp>
        <p:nvSpPr>
          <p:cNvPr id="14" name="rolling element 7"/>
          <p:cNvSpPr/>
          <p:nvPr/>
        </p:nvSpPr>
        <p:spPr>
          <a:xfrm>
            <a:off x="7973568" y="3160166"/>
            <a:ext cx="537667" cy="537667"/>
          </a:xfrm>
          <a:prstGeom prst="ellipse">
            <a:avLst/>
          </a:prstGeom>
          <a:solidFill>
            <a:srgbClr val="F26B4F"/>
          </a:solidFill>
          <a:ln w="12700">
            <a:solidFill>
              <a:srgbClr val="F26B4F"/>
            </a:solidFill>
            <a:prstDash val="solid"/>
          </a:ln>
        </p:spPr>
      </p:sp>
      <p:sp>
        <p:nvSpPr>
          <p:cNvPr id="15" name="rolling element 8"/>
          <p:cNvSpPr/>
          <p:nvPr/>
        </p:nvSpPr>
        <p:spPr>
          <a:xfrm>
            <a:off x="8143362" y="2526487"/>
            <a:ext cx="537667" cy="537667"/>
          </a:xfrm>
          <a:prstGeom prst="ellipse">
            <a:avLst/>
          </a:prstGeom>
          <a:solidFill>
            <a:srgbClr val="F26B4F"/>
          </a:solidFill>
          <a:ln w="12700">
            <a:solidFill>
              <a:srgbClr val="F26B4F"/>
            </a:solidFill>
            <a:prstDash val="solid"/>
          </a:ln>
        </p:spPr>
      </p:sp>
      <p:sp>
        <p:nvSpPr>
          <p:cNvPr id="16" name="rolling element 9"/>
          <p:cNvSpPr/>
          <p:nvPr/>
        </p:nvSpPr>
        <p:spPr>
          <a:xfrm>
            <a:off x="8607247" y="2062602"/>
            <a:ext cx="537667" cy="537667"/>
          </a:xfrm>
          <a:prstGeom prst="ellipse">
            <a:avLst/>
          </a:prstGeom>
          <a:solidFill>
            <a:srgbClr val="F26B4F"/>
          </a:solidFill>
          <a:ln w="12700">
            <a:solidFill>
              <a:srgbClr val="F26B4F"/>
            </a:solidFill>
            <a:prstDash val="solid"/>
          </a:ln>
        </p:spPr>
      </p:sp>
      <p:sp>
        <p:nvSpPr>
          <p:cNvPr id="17" name="rolling element 10"/>
          <p:cNvSpPr/>
          <p:nvPr/>
        </p:nvSpPr>
        <p:spPr>
          <a:xfrm>
            <a:off x="9240926" y="1892808"/>
            <a:ext cx="537667" cy="537667"/>
          </a:xfrm>
          <a:prstGeom prst="ellipse">
            <a:avLst/>
          </a:prstGeom>
          <a:solidFill>
            <a:srgbClr val="F26B4F"/>
          </a:solidFill>
          <a:ln w="12700">
            <a:solidFill>
              <a:srgbClr val="F26B4F"/>
            </a:solidFill>
            <a:prstDash val="solid"/>
          </a:ln>
        </p:spPr>
      </p:sp>
      <p:sp>
        <p:nvSpPr>
          <p:cNvPr id="18" name="rolling element 11"/>
          <p:cNvSpPr/>
          <p:nvPr/>
        </p:nvSpPr>
        <p:spPr>
          <a:xfrm>
            <a:off x="9874606" y="2062602"/>
            <a:ext cx="537667" cy="537667"/>
          </a:xfrm>
          <a:prstGeom prst="ellipse">
            <a:avLst/>
          </a:prstGeom>
          <a:solidFill>
            <a:srgbClr val="F26B4F"/>
          </a:solidFill>
          <a:ln w="12700">
            <a:solidFill>
              <a:srgbClr val="F26B4F"/>
            </a:solidFill>
            <a:prstDash val="solid"/>
          </a:ln>
        </p:spPr>
      </p:sp>
      <p:sp>
        <p:nvSpPr>
          <p:cNvPr id="19" name="rolling element 12"/>
          <p:cNvSpPr/>
          <p:nvPr/>
        </p:nvSpPr>
        <p:spPr>
          <a:xfrm>
            <a:off x="10338491" y="2526487"/>
            <a:ext cx="537667" cy="537667"/>
          </a:xfrm>
          <a:prstGeom prst="ellipse">
            <a:avLst/>
          </a:prstGeom>
          <a:solidFill>
            <a:srgbClr val="F26B4F"/>
          </a:solidFill>
          <a:ln w="12700">
            <a:solidFill>
              <a:srgbClr val="F26B4F"/>
            </a:solidFill>
            <a:prstDash val="solid"/>
          </a:ln>
        </p:spPr>
      </p:sp>
    </p:spTree>
  </p:cSld>
  <p:clrMapOvr>
    <a:masterClrMapping/>
  </p:clrMapOvr>
</p:sld>
</file>

<file path=ppt/theme/theme1.xml><?xml version="1.0" encoding="utf-8"?>
<a:theme xmlns:a="http://schemas.openxmlformats.org/drawingml/2006/main" name="Teal Workshop">
  <a:themeElements>
    <a:clrScheme name="Teal Workshop">
      <a:dk1>
        <a:srgbClr val="12262B"/>
      </a:dk1>
      <a:lt1>
        <a:srgbClr val="FFFFFF"/>
      </a:lt1>
      <a:dk2>
        <a:srgbClr val="0F4C5C"/>
      </a:dk2>
      <a:lt2>
        <a:srgbClr val="EDF5F4"/>
      </a:lt2>
      <a:accent1>
        <a:srgbClr val="F26B4F"/>
      </a:accent1>
      <a:accent2>
        <a:srgbClr val="1F8A8A"/>
      </a:accent2>
      <a:accent3>
        <a:srgbClr val="8A9A9B"/>
      </a:accent3>
      <a:accent4>
        <a:srgbClr val="3E9B5F"/>
      </a:accent4>
      <a:accent5>
        <a:srgbClr val="D64545"/>
      </a:accent5>
      <a:accent6>
        <a:srgbClr val="9CC9C4"/>
      </a:accent6>
      <a:hlink>
        <a:srgbClr val="1F8A8A"/>
      </a:hlink>
      <a:folHlink>
        <a:srgbClr val="6B5B95"/>
      </a:folHlink>
    </a:clrScheme>
    <a:fontScheme name="Teal Workshop">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Bearing Fault Diagnosis with Vibration Data</dc:title>
  <dc:subject>Part I: fault diagnosis, NASA/IMS bearing dataset</dc:subject>
  <dc:creator>PptxGenJS</dc:creator>
  <cp:lastModifiedBy>PptxGenJS</cp:lastModifiedBy>
  <cp:revision>1</cp:revision>
  <dcterms:created xsi:type="dcterms:W3CDTF">2026-10-12T08:03:30Z</dcterms:created>
  <dcterms:modified xsi:type="dcterms:W3CDTF">2026-10-12T08:03:30Z</dcterms:modified>
</cp:coreProperties>
</file>